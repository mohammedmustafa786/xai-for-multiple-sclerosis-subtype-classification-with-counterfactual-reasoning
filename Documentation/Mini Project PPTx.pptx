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25"/>
  </p:notesMasterIdLst>
  <p:sldIdLst>
    <p:sldId id="256" r:id="rId2"/>
    <p:sldId id="257" r:id="rId3"/>
    <p:sldId id="258" r:id="rId4"/>
    <p:sldId id="259" r:id="rId5"/>
    <p:sldId id="261" r:id="rId6"/>
    <p:sldId id="263" r:id="rId7"/>
    <p:sldId id="264" r:id="rId8"/>
    <p:sldId id="265" r:id="rId9"/>
    <p:sldId id="266" r:id="rId10"/>
    <p:sldId id="267" r:id="rId11"/>
    <p:sldId id="268" r:id="rId12"/>
    <p:sldId id="269" r:id="rId13"/>
    <p:sldId id="270" r:id="rId14"/>
    <p:sldId id="271" r:id="rId15"/>
    <p:sldId id="272" r:id="rId16"/>
    <p:sldId id="275" r:id="rId17"/>
    <p:sldId id="280" r:id="rId18"/>
    <p:sldId id="283" r:id="rId19"/>
    <p:sldId id="284" r:id="rId20"/>
    <p:sldId id="281" r:id="rId21"/>
    <p:sldId id="273" r:id="rId22"/>
    <p:sldId id="282" r:id="rId23"/>
    <p:sldId id="274" r:id="rId24"/>
  </p:sldIdLst>
  <p:sldSz cx="12192000" cy="6858000"/>
  <p:notesSz cx="6858000" cy="9144000"/>
  <p:defaultTextStyle>
    <a:defPPr lvl="0">
      <a:defRPr lang="en-US"/>
    </a:defPPr>
    <a:lvl1pPr marL="0" lvl="0" algn="l" defTabSz="457200" rtl="0" eaLnBrk="1" latinLnBrk="0" hangingPunct="1">
      <a:defRPr sz="1800" kern="1200">
        <a:solidFill>
          <a:schemeClr val="tx1"/>
        </a:solidFill>
        <a:latin typeface="+mn-lt"/>
        <a:ea typeface="+mn-ea"/>
        <a:cs typeface="+mn-cs"/>
      </a:defRPr>
    </a:lvl1pPr>
    <a:lvl2pPr marL="457200" lvl="1" algn="l" defTabSz="457200" rtl="0" eaLnBrk="1" latinLnBrk="0" hangingPunct="1">
      <a:defRPr sz="1800" kern="1200">
        <a:solidFill>
          <a:schemeClr val="tx1"/>
        </a:solidFill>
        <a:latin typeface="+mn-lt"/>
        <a:ea typeface="+mn-ea"/>
        <a:cs typeface="+mn-cs"/>
      </a:defRPr>
    </a:lvl2pPr>
    <a:lvl3pPr marL="914400" lvl="2" algn="l" defTabSz="457200" rtl="0" eaLnBrk="1" latinLnBrk="0" hangingPunct="1">
      <a:defRPr sz="1800" kern="1200">
        <a:solidFill>
          <a:schemeClr val="tx1"/>
        </a:solidFill>
        <a:latin typeface="+mn-lt"/>
        <a:ea typeface="+mn-ea"/>
        <a:cs typeface="+mn-cs"/>
      </a:defRPr>
    </a:lvl3pPr>
    <a:lvl4pPr marL="1371600" lvl="3" algn="l" defTabSz="457200" rtl="0" eaLnBrk="1" latinLnBrk="0" hangingPunct="1">
      <a:defRPr sz="1800" kern="1200">
        <a:solidFill>
          <a:schemeClr val="tx1"/>
        </a:solidFill>
        <a:latin typeface="+mn-lt"/>
        <a:ea typeface="+mn-ea"/>
        <a:cs typeface="+mn-cs"/>
      </a:defRPr>
    </a:lvl4pPr>
    <a:lvl5pPr marL="1828800" lvl="4" algn="l" defTabSz="457200" rtl="0" eaLnBrk="1" latinLnBrk="0" hangingPunct="1">
      <a:defRPr sz="1800" kern="1200">
        <a:solidFill>
          <a:schemeClr val="tx1"/>
        </a:solidFill>
        <a:latin typeface="+mn-lt"/>
        <a:ea typeface="+mn-ea"/>
        <a:cs typeface="+mn-cs"/>
      </a:defRPr>
    </a:lvl5pPr>
    <a:lvl6pPr marL="2286000" lvl="5" algn="l" defTabSz="457200" rtl="0" eaLnBrk="1" latinLnBrk="0" hangingPunct="1">
      <a:defRPr sz="1800" kern="1200">
        <a:solidFill>
          <a:schemeClr val="tx1"/>
        </a:solidFill>
        <a:latin typeface="+mn-lt"/>
        <a:ea typeface="+mn-ea"/>
        <a:cs typeface="+mn-cs"/>
      </a:defRPr>
    </a:lvl6pPr>
    <a:lvl7pPr marL="2743200" lvl="6" algn="l" defTabSz="457200" rtl="0" eaLnBrk="1" latinLnBrk="0" hangingPunct="1">
      <a:defRPr sz="1800" kern="1200">
        <a:solidFill>
          <a:schemeClr val="tx1"/>
        </a:solidFill>
        <a:latin typeface="+mn-lt"/>
        <a:ea typeface="+mn-ea"/>
        <a:cs typeface="+mn-cs"/>
      </a:defRPr>
    </a:lvl7pPr>
    <a:lvl8pPr marL="3200400" lvl="7" algn="l" defTabSz="457200" rtl="0" eaLnBrk="1" latinLnBrk="0" hangingPunct="1">
      <a:defRPr sz="1800" kern="1200">
        <a:solidFill>
          <a:schemeClr val="tx1"/>
        </a:solidFill>
        <a:latin typeface="+mn-lt"/>
        <a:ea typeface="+mn-ea"/>
        <a:cs typeface="+mn-cs"/>
      </a:defRPr>
    </a:lvl8pPr>
    <a:lvl9pPr marL="3657600" lvl="8"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91" d="100"/>
          <a:sy n="91" d="100"/>
        </p:scale>
        <p:origin x="341" y="5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6F33DAA-EA3A-41D3-9E8E-682FC69F2A0C}" type="datetimeFigureOut">
              <a:rPr lang="en-IN" smtClean="0"/>
              <a:t>21-04-2026</a:t>
            </a:fld>
            <a:endParaRPr lang="en-I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224826D-9F3B-4342-B9AE-F4F8EEAD7BAC}" type="slidenum">
              <a:rPr lang="en-IN" smtClean="0"/>
              <a:t>‹#›</a:t>
            </a:fld>
            <a:endParaRPr lang="en-IN"/>
          </a:p>
        </p:txBody>
      </p:sp>
    </p:spTree>
    <p:extLst>
      <p:ext uri="{BB962C8B-B14F-4D97-AF65-F5344CB8AC3E}">
        <p14:creationId xmlns:p14="http://schemas.microsoft.com/office/powerpoint/2010/main" val="251545523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16" name="Group 15"/>
          <p:cNvGrpSpPr/>
          <p:nvPr/>
        </p:nvGrpSpPr>
        <p:grpSpPr>
          <a:xfrm>
            <a:off x="0" y="-8467"/>
            <a:ext cx="12192000" cy="6866467"/>
            <a:chOff x="0" y="-8467"/>
            <a:chExt cx="12192000" cy="6866467"/>
          </a:xfrm>
        </p:grpSpPr>
        <p:sp>
          <p:nvSpPr>
            <p:cNvPr id="15" name="Freeform 14"/>
            <p:cNvSpPr/>
            <p:nvPr/>
          </p:nvSpPr>
          <p:spPr>
            <a:xfrm>
              <a:off x="0" y="-7862"/>
              <a:ext cx="863600" cy="5698067"/>
            </a:xfrm>
            <a:custGeom>
              <a:avLst/>
              <a:gdLst/>
              <a:ahLst/>
              <a:cxnLst/>
              <a:rect l="l" t="t" r="r" b="b"/>
              <a:pathLst>
                <a:path w="863600" h="5698067">
                  <a:moveTo>
                    <a:pt x="0" y="8467"/>
                  </a:moveTo>
                  <a:lnTo>
                    <a:pt x="863600" y="0"/>
                  </a:lnTo>
                  <a:lnTo>
                    <a:pt x="863600" y="16934"/>
                  </a:lnTo>
                  <a:lnTo>
                    <a:pt x="0" y="5698067"/>
                  </a:lnTo>
                  <a:lnTo>
                    <a:pt x="0" y="8467"/>
                  </a:lnTo>
                  <a:close/>
                </a:path>
              </a:pathLst>
            </a:custGeom>
            <a:solidFill>
              <a:schemeClr val="accent1">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IN"/>
            </a:p>
          </p:txBody>
        </p:sp>
        <p:cxnSp>
          <p:nvCxnSpPr>
            <p:cNvPr id="19" name="Straight Connector 18"/>
            <p:cNvCxnSpPr/>
            <p:nvPr/>
          </p:nvCxnSpPr>
          <p:spPr>
            <a:xfrm>
              <a:off x="9371012" y="0"/>
              <a:ext cx="1219200" cy="6858000"/>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cxnSp>
          <p:nvCxnSpPr>
            <p:cNvPr id="20" name="Straight Connector 19"/>
            <p:cNvCxnSpPr/>
            <p:nvPr/>
          </p:nvCxnSpPr>
          <p:spPr>
            <a:xfrm flipH="1">
              <a:off x="7425267" y="3681413"/>
              <a:ext cx="4763558" cy="3176587"/>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sp>
          <p:nvSpPr>
            <p:cNvPr id="21"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6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IN"/>
            </a:p>
          </p:txBody>
        </p:sp>
        <p:sp>
          <p:nvSpPr>
            <p:cNvPr id="22"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IN"/>
            </a:p>
          </p:txBody>
        </p:sp>
        <p:sp>
          <p:nvSpPr>
            <p:cNvPr id="23" name="Isosceles Triangle 22"/>
            <p:cNvSpPr/>
            <p:nvPr/>
          </p:nvSpPr>
          <p:spPr>
            <a:xfrm>
              <a:off x="8932333" y="3048000"/>
              <a:ext cx="3259667" cy="3810000"/>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IN"/>
            </a:p>
          </p:txBody>
        </p:sp>
        <p:sp>
          <p:nvSpPr>
            <p:cNvPr id="24"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1">
                <a:lumMod val="75000"/>
                <a:alpha val="5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IN"/>
            </a:p>
          </p:txBody>
        </p:sp>
        <p:sp>
          <p:nvSpPr>
            <p:cNvPr id="25"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2">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IN"/>
            </a:p>
          </p:txBody>
        </p:sp>
        <p:sp>
          <p:nvSpPr>
            <p:cNvPr id="26"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2">
                <a:lumMod val="75000"/>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IN"/>
            </a:p>
          </p:txBody>
        </p:sp>
        <p:sp>
          <p:nvSpPr>
            <p:cNvPr id="27" name="Isosceles Triangle 26"/>
            <p:cNvSpPr/>
            <p:nvPr/>
          </p:nvSpPr>
          <p:spPr>
            <a:xfrm>
              <a:off x="10371666" y="3589867"/>
              <a:ext cx="1817159" cy="3268133"/>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IN"/>
            </a:p>
          </p:txBody>
        </p:sp>
      </p:grpSp>
      <p:sp>
        <p:nvSpPr>
          <p:cNvPr id="2" name="Title 1"/>
          <p:cNvSpPr>
            <a:spLocks noGrp="1"/>
          </p:cNvSpPr>
          <p:nvPr>
            <p:ph type="ctrTitle"/>
          </p:nvPr>
        </p:nvSpPr>
        <p:spPr>
          <a:xfrm>
            <a:off x="1507067" y="2404534"/>
            <a:ext cx="7766936" cy="1646302"/>
          </a:xfrm>
        </p:spPr>
        <p:txBody>
          <a:bodyPr anchor="b">
            <a:noAutofit/>
          </a:bodyPr>
          <a:lstStyle>
            <a:lvl1pPr algn="r">
              <a:defRPr sz="5400">
                <a:solidFill>
                  <a:schemeClr val="accent1"/>
                </a:solidFill>
              </a:defRPr>
            </a:lvl1pPr>
          </a:lstStyle>
          <a:p>
            <a:r>
              <a:rPr lang="en-US"/>
              <a:t>Click to edit Master title style</a:t>
            </a:r>
            <a:endParaRPr lang="en-US" dirty="0"/>
          </a:p>
        </p:txBody>
      </p:sp>
      <p:sp>
        <p:nvSpPr>
          <p:cNvPr id="3" name="Subtitle 2"/>
          <p:cNvSpPr>
            <a:spLocks noGrp="1"/>
          </p:cNvSpPr>
          <p:nvPr>
            <p:ph type="subTitle" idx="1"/>
          </p:nvPr>
        </p:nvSpPr>
        <p:spPr>
          <a:xfrm>
            <a:off x="1507067" y="4050833"/>
            <a:ext cx="7766936" cy="1096899"/>
          </a:xfrm>
        </p:spPr>
        <p:txBody>
          <a:bodyPr anchor="t"/>
          <a:lstStyle>
            <a:lvl1pPr marL="0" indent="0" algn="r">
              <a:buNone/>
              <a:defRPr>
                <a:solidFill>
                  <a:schemeClr val="tx1">
                    <a:lumMod val="50000"/>
                    <a:lumOff val="50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69AE96B6-13BC-4AA4-9D0C-61E15EC6F2FB}" type="datetimeFigureOut">
              <a:rPr lang="en-IN" smtClean="0"/>
              <a:t>21-04-2026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4A6A112F-43FE-4C07-B635-84E7E8C91AA0}" type="slidenum">
              <a:rPr lang="en-IN" smtClean="0"/>
              <a:t>‹#›</a:t>
            </a:fld>
            <a:endParaRPr lang="en-IN"/>
          </a:p>
        </p:txBody>
      </p:sp>
    </p:spTree>
    <p:extLst>
      <p:ext uri="{BB962C8B-B14F-4D97-AF65-F5344CB8AC3E}">
        <p14:creationId xmlns:p14="http://schemas.microsoft.com/office/powerpoint/2010/main" val="1048581815"/>
      </p:ext>
    </p:extLst>
  </p:cSld>
  <p:clrMapOvr>
    <a:masterClrMapping/>
  </p:clrMapOvr>
  <mc:AlternateContent xmlns:mc="http://schemas.openxmlformats.org/markup-compatibility/2006" xmlns:p14="http://schemas.microsoft.com/office/powerpoint/2010/main">
    <mc:Choice Requires="p14">
      <p:transition spd="slow" p14:dur="800">
        <p14:flythrough/>
      </p:transition>
    </mc:Choice>
    <mc:Fallback xmlns="">
      <p:transition spd="slow">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69AE96B6-13BC-4AA4-9D0C-61E15EC6F2FB}" type="datetimeFigureOut">
              <a:rPr lang="en-IN" smtClean="0"/>
              <a:t>21-04-2026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4A6A112F-43FE-4C07-B635-84E7E8C91AA0}" type="slidenum">
              <a:rPr lang="en-IN" smtClean="0"/>
              <a:t>‹#›</a:t>
            </a:fld>
            <a:endParaRPr lang="en-IN"/>
          </a:p>
        </p:txBody>
      </p:sp>
    </p:spTree>
    <p:extLst>
      <p:ext uri="{BB962C8B-B14F-4D97-AF65-F5344CB8AC3E}">
        <p14:creationId xmlns:p14="http://schemas.microsoft.com/office/powerpoint/2010/main" val="2923353586"/>
      </p:ext>
    </p:extLst>
  </p:cSld>
  <p:clrMapOvr>
    <a:masterClrMapping/>
  </p:clrMapOvr>
  <mc:AlternateContent xmlns:mc="http://schemas.openxmlformats.org/markup-compatibility/2006" xmlns:p14="http://schemas.microsoft.com/office/powerpoint/2010/main">
    <mc:Choice Requires="p14">
      <p:transition spd="slow" p14:dur="800">
        <p14:flythrough/>
      </p:transition>
    </mc:Choice>
    <mc:Fallback xmlns="">
      <p:transition spd="slow">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77335" y="2700867"/>
            <a:ext cx="8596668" cy="1826581"/>
          </a:xfrm>
        </p:spPr>
        <p:txBody>
          <a:bodyPr anchor="b"/>
          <a:lstStyle>
            <a:lvl1pPr algn="l">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860400"/>
          </a:xfrm>
        </p:spPr>
        <p:txBody>
          <a:bodyPr anchor="t"/>
          <a:lstStyle>
            <a:lvl1pPr marL="0" indent="0" algn="l">
              <a:buNone/>
              <a:defRPr sz="20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69AE96B6-13BC-4AA4-9D0C-61E15EC6F2FB}" type="datetimeFigureOut">
              <a:rPr lang="en-IN" smtClean="0"/>
              <a:t>21-04-2026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4A6A112F-43FE-4C07-B635-84E7E8C91AA0}" type="slidenum">
              <a:rPr lang="en-IN" smtClean="0"/>
              <a:t>‹#›</a:t>
            </a:fld>
            <a:endParaRPr lang="en-IN"/>
          </a:p>
        </p:txBody>
      </p:sp>
    </p:spTree>
    <p:extLst>
      <p:ext uri="{BB962C8B-B14F-4D97-AF65-F5344CB8AC3E}">
        <p14:creationId xmlns:p14="http://schemas.microsoft.com/office/powerpoint/2010/main" val="3274789584"/>
      </p:ext>
    </p:extLst>
  </p:cSld>
  <p:clrMapOvr>
    <a:masterClrMapping/>
  </p:clrMapOvr>
  <mc:AlternateContent xmlns:mc="http://schemas.openxmlformats.org/markup-compatibility/2006" xmlns:p14="http://schemas.microsoft.com/office/powerpoint/2010/main">
    <mc:Choice Requires="p14">
      <p:transition spd="slow" p14:dur="800">
        <p14:flythrough/>
      </p:transition>
    </mc:Choice>
    <mc:Fallback xmlns="">
      <p:transition spd="slow">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77334" y="2160589"/>
            <a:ext cx="4184035" cy="388077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5089970" y="2160589"/>
            <a:ext cx="4184034" cy="388077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69AE96B6-13BC-4AA4-9D0C-61E15EC6F2FB}" type="datetimeFigureOut">
              <a:rPr lang="en-IN" smtClean="0"/>
              <a:t>21-04-2026</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4A6A112F-43FE-4C07-B635-84E7E8C91AA0}" type="slidenum">
              <a:rPr lang="en-IN" smtClean="0"/>
              <a:t>‹#›</a:t>
            </a:fld>
            <a:endParaRPr lang="en-IN"/>
          </a:p>
        </p:txBody>
      </p:sp>
    </p:spTree>
    <p:extLst>
      <p:ext uri="{BB962C8B-B14F-4D97-AF65-F5344CB8AC3E}">
        <p14:creationId xmlns:p14="http://schemas.microsoft.com/office/powerpoint/2010/main" val="1528278303"/>
      </p:ext>
    </p:extLst>
  </p:cSld>
  <p:clrMapOvr>
    <a:masterClrMapping/>
  </p:clrMapOvr>
  <mc:AlternateContent xmlns:mc="http://schemas.openxmlformats.org/markup-compatibility/2006" xmlns:p14="http://schemas.microsoft.com/office/powerpoint/2010/main">
    <mc:Choice Requires="p14">
      <p:transition spd="slow" p14:dur="800">
        <p14:flythrough/>
      </p:transition>
    </mc:Choice>
    <mc:Fallback xmlns="">
      <p:transition spd="slow">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675745" y="2160983"/>
            <a:ext cx="4185623"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75745" y="2737245"/>
            <a:ext cx="4185623"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5088383" y="2160983"/>
            <a:ext cx="4185618"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5088384" y="2737245"/>
            <a:ext cx="4185617"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69AE96B6-13BC-4AA4-9D0C-61E15EC6F2FB}" type="datetimeFigureOut">
              <a:rPr lang="en-IN" smtClean="0"/>
              <a:t>21-04-2026</a:t>
            </a:fld>
            <a:endParaRPr lang="en-IN"/>
          </a:p>
        </p:txBody>
      </p:sp>
      <p:sp>
        <p:nvSpPr>
          <p:cNvPr id="8" name="Footer Placeholder 7"/>
          <p:cNvSpPr>
            <a:spLocks noGrp="1"/>
          </p:cNvSpPr>
          <p:nvPr>
            <p:ph type="ftr" sz="quarter" idx="11"/>
          </p:nvPr>
        </p:nvSpPr>
        <p:spPr/>
        <p:txBody>
          <a:bodyPr/>
          <a:lstStyle/>
          <a:p>
            <a:endParaRPr lang="en-IN"/>
          </a:p>
        </p:txBody>
      </p:sp>
      <p:sp>
        <p:nvSpPr>
          <p:cNvPr id="9" name="Slide Number Placeholder 8"/>
          <p:cNvSpPr>
            <a:spLocks noGrp="1"/>
          </p:cNvSpPr>
          <p:nvPr>
            <p:ph type="sldNum" sz="quarter" idx="12"/>
          </p:nvPr>
        </p:nvSpPr>
        <p:spPr/>
        <p:txBody>
          <a:bodyPr/>
          <a:lstStyle/>
          <a:p>
            <a:fld id="{4A6A112F-43FE-4C07-B635-84E7E8C91AA0}" type="slidenum">
              <a:rPr lang="en-IN" smtClean="0"/>
              <a:t>‹#›</a:t>
            </a:fld>
            <a:endParaRPr lang="en-IN"/>
          </a:p>
        </p:txBody>
      </p:sp>
    </p:spTree>
    <p:extLst>
      <p:ext uri="{BB962C8B-B14F-4D97-AF65-F5344CB8AC3E}">
        <p14:creationId xmlns:p14="http://schemas.microsoft.com/office/powerpoint/2010/main" val="3157926930"/>
      </p:ext>
    </p:extLst>
  </p:cSld>
  <p:clrMapOvr>
    <a:masterClrMapping/>
  </p:clrMapOvr>
  <mc:AlternateContent xmlns:mc="http://schemas.openxmlformats.org/markup-compatibility/2006" xmlns:p14="http://schemas.microsoft.com/office/powerpoint/2010/main">
    <mc:Choice Requires="p14">
      <p:transition spd="slow" p14:dur="800">
        <p14:flythrough/>
      </p:transition>
    </mc:Choice>
    <mc:Fallback xmlns="">
      <p:transition spd="slow">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77334" y="609600"/>
            <a:ext cx="8596668" cy="1320800"/>
          </a:xfrm>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69AE96B6-13BC-4AA4-9D0C-61E15EC6F2FB}" type="datetimeFigureOut">
              <a:rPr lang="en-IN" smtClean="0"/>
              <a:t>21-04-2026</a:t>
            </a:fld>
            <a:endParaRPr lang="en-IN"/>
          </a:p>
        </p:txBody>
      </p:sp>
      <p:sp>
        <p:nvSpPr>
          <p:cNvPr id="4" name="Footer Placeholder 3"/>
          <p:cNvSpPr>
            <a:spLocks noGrp="1"/>
          </p:cNvSpPr>
          <p:nvPr>
            <p:ph type="ftr" sz="quarter" idx="11"/>
          </p:nvPr>
        </p:nvSpPr>
        <p:spPr/>
        <p:txBody>
          <a:bodyPr/>
          <a:lstStyle/>
          <a:p>
            <a:endParaRPr lang="en-IN"/>
          </a:p>
        </p:txBody>
      </p:sp>
      <p:sp>
        <p:nvSpPr>
          <p:cNvPr id="5" name="Slide Number Placeholder 4"/>
          <p:cNvSpPr>
            <a:spLocks noGrp="1"/>
          </p:cNvSpPr>
          <p:nvPr>
            <p:ph type="sldNum" sz="quarter" idx="12"/>
          </p:nvPr>
        </p:nvSpPr>
        <p:spPr/>
        <p:txBody>
          <a:bodyPr/>
          <a:lstStyle/>
          <a:p>
            <a:fld id="{4A6A112F-43FE-4C07-B635-84E7E8C91AA0}" type="slidenum">
              <a:rPr lang="en-IN" smtClean="0"/>
              <a:t>‹#›</a:t>
            </a:fld>
            <a:endParaRPr lang="en-IN"/>
          </a:p>
        </p:txBody>
      </p:sp>
    </p:spTree>
    <p:extLst>
      <p:ext uri="{BB962C8B-B14F-4D97-AF65-F5344CB8AC3E}">
        <p14:creationId xmlns:p14="http://schemas.microsoft.com/office/powerpoint/2010/main" val="987195177"/>
      </p:ext>
    </p:extLst>
  </p:cSld>
  <p:clrMapOvr>
    <a:masterClrMapping/>
  </p:clrMapOvr>
  <mc:AlternateContent xmlns:mc="http://schemas.openxmlformats.org/markup-compatibility/2006" xmlns:p14="http://schemas.microsoft.com/office/powerpoint/2010/main">
    <mc:Choice Requires="p14">
      <p:transition spd="slow" p14:dur="800">
        <p14:flythrough/>
      </p:transition>
    </mc:Choice>
    <mc:Fallback xmlns="">
      <p:transition spd="slow">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69AE96B6-13BC-4AA4-9D0C-61E15EC6F2FB}" type="datetimeFigureOut">
              <a:rPr lang="en-IN" smtClean="0"/>
              <a:t>21-04-2026</a:t>
            </a:fld>
            <a:endParaRPr lang="en-IN"/>
          </a:p>
        </p:txBody>
      </p:sp>
      <p:sp>
        <p:nvSpPr>
          <p:cNvPr id="3" name="Footer Placeholder 2"/>
          <p:cNvSpPr>
            <a:spLocks noGrp="1"/>
          </p:cNvSpPr>
          <p:nvPr>
            <p:ph type="ftr" sz="quarter" idx="11"/>
          </p:nvPr>
        </p:nvSpPr>
        <p:spPr/>
        <p:txBody>
          <a:bodyPr/>
          <a:lstStyle/>
          <a:p>
            <a:endParaRPr lang="en-IN"/>
          </a:p>
        </p:txBody>
      </p:sp>
      <p:sp>
        <p:nvSpPr>
          <p:cNvPr id="4" name="Slide Number Placeholder 3"/>
          <p:cNvSpPr>
            <a:spLocks noGrp="1"/>
          </p:cNvSpPr>
          <p:nvPr>
            <p:ph type="sldNum" sz="quarter" idx="12"/>
          </p:nvPr>
        </p:nvSpPr>
        <p:spPr/>
        <p:txBody>
          <a:bodyPr/>
          <a:lstStyle/>
          <a:p>
            <a:fld id="{4A6A112F-43FE-4C07-B635-84E7E8C91AA0}" type="slidenum">
              <a:rPr lang="en-IN" smtClean="0"/>
              <a:t>‹#›</a:t>
            </a:fld>
            <a:endParaRPr lang="en-IN"/>
          </a:p>
        </p:txBody>
      </p:sp>
    </p:spTree>
    <p:extLst>
      <p:ext uri="{BB962C8B-B14F-4D97-AF65-F5344CB8AC3E}">
        <p14:creationId xmlns:p14="http://schemas.microsoft.com/office/powerpoint/2010/main" val="412071487"/>
      </p:ext>
    </p:extLst>
  </p:cSld>
  <p:clrMapOvr>
    <a:masterClrMapping/>
  </p:clrMapOvr>
  <mc:AlternateContent xmlns:mc="http://schemas.openxmlformats.org/markup-compatibility/2006" xmlns:p14="http://schemas.microsoft.com/office/powerpoint/2010/main">
    <mc:Choice Requires="p14">
      <p:transition spd="slow" p14:dur="800">
        <p14:flythrough/>
      </p:transition>
    </mc:Choice>
    <mc:Fallback xmlns="">
      <p:transition spd="slow">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1498604"/>
            <a:ext cx="3854528" cy="1278466"/>
          </a:xfrm>
        </p:spPr>
        <p:txBody>
          <a:bodyPr anchor="b">
            <a:normAutofit/>
          </a:bodyPr>
          <a:lstStyle>
            <a:lvl1pPr>
              <a:defRPr sz="2000"/>
            </a:lvl1pPr>
          </a:lstStyle>
          <a:p>
            <a:r>
              <a:rPr lang="en-US"/>
              <a:t>Click to edit Master title style</a:t>
            </a:r>
            <a:endParaRPr lang="en-US" dirty="0"/>
          </a:p>
        </p:txBody>
      </p:sp>
      <p:sp>
        <p:nvSpPr>
          <p:cNvPr id="3" name="Content Placeholder 2"/>
          <p:cNvSpPr>
            <a:spLocks noGrp="1"/>
          </p:cNvSpPr>
          <p:nvPr>
            <p:ph idx="1"/>
          </p:nvPr>
        </p:nvSpPr>
        <p:spPr>
          <a:xfrm>
            <a:off x="4760461" y="514924"/>
            <a:ext cx="4513541" cy="552643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77334" y="2777069"/>
            <a:ext cx="3854528" cy="2584449"/>
          </a:xfrm>
        </p:spPr>
        <p:txBody>
          <a:bodyPr>
            <a:normAutofit/>
          </a:bodyPr>
          <a:lstStyle>
            <a:lvl1pPr marL="0" indent="0">
              <a:buNone/>
              <a:defRPr sz="1400"/>
            </a:lvl1pPr>
            <a:lvl2pPr marL="457063" indent="0">
              <a:buNone/>
              <a:defRPr sz="1400"/>
            </a:lvl2pPr>
            <a:lvl3pPr marL="914126" indent="0">
              <a:buNone/>
              <a:defRPr sz="1200"/>
            </a:lvl3pPr>
            <a:lvl4pPr marL="1371189" indent="0">
              <a:buNone/>
              <a:defRPr sz="1000"/>
            </a:lvl4pPr>
            <a:lvl5pPr marL="1828251" indent="0">
              <a:buNone/>
              <a:defRPr sz="1000"/>
            </a:lvl5pPr>
            <a:lvl6pPr marL="2285314" indent="0">
              <a:buNone/>
              <a:defRPr sz="1000"/>
            </a:lvl6pPr>
            <a:lvl7pPr marL="2742377" indent="0">
              <a:buNone/>
              <a:defRPr sz="1000"/>
            </a:lvl7pPr>
            <a:lvl8pPr marL="3199440" indent="0">
              <a:buNone/>
              <a:defRPr sz="1000"/>
            </a:lvl8pPr>
            <a:lvl9pPr marL="3656503"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69AE96B6-13BC-4AA4-9D0C-61E15EC6F2FB}" type="datetimeFigureOut">
              <a:rPr lang="en-IN" smtClean="0"/>
              <a:t>21-04-2026</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4A6A112F-43FE-4C07-B635-84E7E8C91AA0}" type="slidenum">
              <a:rPr lang="en-IN" smtClean="0"/>
              <a:t>‹#›</a:t>
            </a:fld>
            <a:endParaRPr lang="en-IN"/>
          </a:p>
        </p:txBody>
      </p:sp>
    </p:spTree>
    <p:extLst>
      <p:ext uri="{BB962C8B-B14F-4D97-AF65-F5344CB8AC3E}">
        <p14:creationId xmlns:p14="http://schemas.microsoft.com/office/powerpoint/2010/main" val="4275944047"/>
      </p:ext>
    </p:extLst>
  </p:cSld>
  <p:clrMapOvr>
    <a:masterClrMapping/>
  </p:clrMapOvr>
  <mc:AlternateContent xmlns:mc="http://schemas.openxmlformats.org/markup-compatibility/2006" xmlns:p14="http://schemas.microsoft.com/office/powerpoint/2010/main">
    <mc:Choice Requires="p14">
      <p:transition spd="slow" p14:dur="800">
        <p14:flythrough/>
      </p:transition>
    </mc:Choice>
    <mc:Fallback xmlns="">
      <p:transition spd="slow">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4800600"/>
            <a:ext cx="8596667" cy="566738"/>
          </a:xfrm>
        </p:spPr>
        <p:txBody>
          <a:bodyPr anchor="b">
            <a:normAutofit/>
          </a:bodyPr>
          <a:lstStyle>
            <a:lvl1pPr algn="l">
              <a:defRPr sz="24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677334" y="609600"/>
            <a:ext cx="8596668" cy="3845718"/>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677334" y="5367338"/>
            <a:ext cx="8596667" cy="674024"/>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4A6A112F-43FE-4C07-B635-84E7E8C91AA0}" type="slidenum">
              <a:rPr lang="en-IN" smtClean="0"/>
              <a:t>‹#›</a:t>
            </a:fld>
            <a:endParaRPr lang="en-IN"/>
          </a:p>
        </p:txBody>
      </p:sp>
      <p:sp>
        <p:nvSpPr>
          <p:cNvPr id="5" name="Date Placeholder 4"/>
          <p:cNvSpPr>
            <a:spLocks noGrp="1"/>
          </p:cNvSpPr>
          <p:nvPr>
            <p:ph type="dt" sz="half" idx="10"/>
          </p:nvPr>
        </p:nvSpPr>
        <p:spPr/>
        <p:txBody>
          <a:bodyPr/>
          <a:lstStyle/>
          <a:p>
            <a:fld id="{69AE96B6-13BC-4AA4-9D0C-61E15EC6F2FB}" type="datetimeFigureOut">
              <a:rPr lang="en-IN" smtClean="0"/>
              <a:t>21-04-2026</a:t>
            </a:fld>
            <a:endParaRPr lang="en-IN"/>
          </a:p>
        </p:txBody>
      </p:sp>
    </p:spTree>
    <p:extLst>
      <p:ext uri="{BB962C8B-B14F-4D97-AF65-F5344CB8AC3E}">
        <p14:creationId xmlns:p14="http://schemas.microsoft.com/office/powerpoint/2010/main" val="1790358791"/>
      </p:ext>
    </p:extLst>
  </p:cSld>
  <p:clrMapOvr>
    <a:masterClrMapping/>
  </p:clrMapOvr>
  <mc:AlternateContent xmlns:mc="http://schemas.openxmlformats.org/markup-compatibility/2006" xmlns:p14="http://schemas.microsoft.com/office/powerpoint/2010/main">
    <mc:Choice Requires="p14">
      <p:transition spd="slow" p14:dur="800">
        <p14:flythrough/>
      </p:transition>
    </mc:Choice>
    <mc:Fallback xmlns="">
      <p:transition spd="slow">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5" y="609600"/>
            <a:ext cx="8596668" cy="3403600"/>
          </a:xfrm>
        </p:spPr>
        <p:txBody>
          <a:bodyPr anchor="ctr">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69AE96B6-13BC-4AA4-9D0C-61E15EC6F2FB}" type="datetimeFigureOut">
              <a:rPr lang="en-IN" smtClean="0"/>
              <a:t>21-04-2026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4A6A112F-43FE-4C07-B635-84E7E8C91AA0}" type="slidenum">
              <a:rPr lang="en-IN" smtClean="0"/>
              <a:t>‹#›</a:t>
            </a:fld>
            <a:endParaRPr lang="en-IN"/>
          </a:p>
        </p:txBody>
      </p:sp>
    </p:spTree>
    <p:extLst>
      <p:ext uri="{BB962C8B-B14F-4D97-AF65-F5344CB8AC3E}">
        <p14:creationId xmlns:p14="http://schemas.microsoft.com/office/powerpoint/2010/main" val="223961680"/>
      </p:ext>
    </p:extLst>
  </p:cSld>
  <p:clrMapOvr>
    <a:masterClrMapping/>
  </p:clrMapOvr>
  <mc:AlternateContent xmlns:mc="http://schemas.openxmlformats.org/markup-compatibility/2006" xmlns:p14="http://schemas.microsoft.com/office/powerpoint/2010/main">
    <mc:Choice Requires="p14">
      <p:transition spd="slow" p14:dur="800">
        <p14:flythrough/>
      </p:transition>
    </mc:Choice>
    <mc:Fallback xmlns="">
      <p:transition spd="slow">
        <p:fade/>
      </p:transition>
    </mc:Fallback>
  </mc:AlternateConten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1366139" y="3632200"/>
            <a:ext cx="7224524" cy="381000"/>
          </a:xfrm>
        </p:spPr>
        <p:txBody>
          <a:bodyPr anchor="ctr">
            <a:noAutofit/>
          </a:bodyPr>
          <a:lstStyle>
            <a:lvl1pPr marL="0" indent="0">
              <a:buFontTx/>
              <a:buNone/>
              <a:defRPr sz="1600">
                <a:solidFill>
                  <a:schemeClr val="tx1">
                    <a:lumMod val="50000"/>
                    <a:lumOff val="50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69AE96B6-13BC-4AA4-9D0C-61E15EC6F2FB}" type="datetimeFigureOut">
              <a:rPr lang="en-IN" smtClean="0"/>
              <a:t>21-04-2026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4A6A112F-43FE-4C07-B635-84E7E8C91AA0}" type="slidenum">
              <a:rPr lang="en-IN" smtClean="0"/>
              <a:t>‹#›</a:t>
            </a:fld>
            <a:endParaRPr lang="en-IN"/>
          </a:p>
        </p:txBody>
      </p:sp>
      <p:sp>
        <p:nvSpPr>
          <p:cNvPr id="24" name="TextBox 23"/>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3669920057"/>
      </p:ext>
    </p:extLst>
  </p:cSld>
  <p:clrMapOvr>
    <a:masterClrMapping/>
  </p:clrMapOvr>
  <mc:AlternateContent xmlns:mc="http://schemas.openxmlformats.org/markup-compatibility/2006" xmlns:p14="http://schemas.microsoft.com/office/powerpoint/2010/main">
    <mc:Choice Requires="p14">
      <p:transition spd="slow" p14:dur="800">
        <p14:flythrough/>
      </p:transition>
    </mc:Choice>
    <mc:Fallback xmlns="">
      <p:transition spd="slow">
        <p:fade/>
      </p:transition>
    </mc:Fallback>
  </mc:AlternateConten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677335" y="1931988"/>
            <a:ext cx="8596668" cy="2595460"/>
          </a:xfrm>
        </p:spPr>
        <p:txBody>
          <a:bodyPr anchor="b">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69AE96B6-13BC-4AA4-9D0C-61E15EC6F2FB}" type="datetimeFigureOut">
              <a:rPr lang="en-IN" smtClean="0"/>
              <a:t>21-04-2026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4A6A112F-43FE-4C07-B635-84E7E8C91AA0}" type="slidenum">
              <a:rPr lang="en-IN" smtClean="0"/>
              <a:t>‹#›</a:t>
            </a:fld>
            <a:endParaRPr lang="en-IN"/>
          </a:p>
        </p:txBody>
      </p:sp>
    </p:spTree>
    <p:extLst>
      <p:ext uri="{BB962C8B-B14F-4D97-AF65-F5344CB8AC3E}">
        <p14:creationId xmlns:p14="http://schemas.microsoft.com/office/powerpoint/2010/main" val="383718131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tx1">
                    <a:lumMod val="75000"/>
                    <a:lumOff val="25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69AE96B6-13BC-4AA4-9D0C-61E15EC6F2FB}" type="datetimeFigureOut">
              <a:rPr lang="en-IN" smtClean="0"/>
              <a:t>21-04-2026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4A6A112F-43FE-4C07-B635-84E7E8C91AA0}" type="slidenum">
              <a:rPr lang="en-IN" smtClean="0"/>
              <a:t>‹#›</a:t>
            </a:fld>
            <a:endParaRPr lang="en-IN"/>
          </a:p>
        </p:txBody>
      </p:sp>
      <p:sp>
        <p:nvSpPr>
          <p:cNvPr id="24" name="TextBox 23"/>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4980508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685799" y="609600"/>
            <a:ext cx="8588203"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69AE96B6-13BC-4AA4-9D0C-61E15EC6F2FB}" type="datetimeFigureOut">
              <a:rPr lang="en-IN" smtClean="0"/>
              <a:t>21-04-2026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4A6A112F-43FE-4C07-B635-84E7E8C91AA0}" type="slidenum">
              <a:rPr lang="en-IN" smtClean="0"/>
              <a:t>‹#›</a:t>
            </a:fld>
            <a:endParaRPr lang="en-IN"/>
          </a:p>
        </p:txBody>
      </p:sp>
    </p:spTree>
    <p:extLst>
      <p:ext uri="{BB962C8B-B14F-4D97-AF65-F5344CB8AC3E}">
        <p14:creationId xmlns:p14="http://schemas.microsoft.com/office/powerpoint/2010/main" val="2269021131"/>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69AE96B6-13BC-4AA4-9D0C-61E15EC6F2FB}" type="datetimeFigureOut">
              <a:rPr lang="en-IN" smtClean="0"/>
              <a:t>21-04-2026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4A6A112F-43FE-4C07-B635-84E7E8C91AA0}" type="slidenum">
              <a:rPr lang="en-IN" smtClean="0"/>
              <a:t>‹#›</a:t>
            </a:fld>
            <a:endParaRPr lang="en-IN"/>
          </a:p>
        </p:txBody>
      </p:sp>
    </p:spTree>
    <p:extLst>
      <p:ext uri="{BB962C8B-B14F-4D97-AF65-F5344CB8AC3E}">
        <p14:creationId xmlns:p14="http://schemas.microsoft.com/office/powerpoint/2010/main" val="2566601896"/>
      </p:ext>
    </p:extLst>
  </p:cSld>
  <p:clrMapOvr>
    <a:masterClrMapping/>
  </p:clrMapOvr>
  <mc:AlternateContent xmlns:mc="http://schemas.openxmlformats.org/markup-compatibility/2006" xmlns:p14="http://schemas.microsoft.com/office/powerpoint/2010/main">
    <mc:Choice Requires="p14">
      <p:transition spd="slow" p14:dur="800">
        <p14:flythrough/>
      </p:transition>
    </mc:Choice>
    <mc:Fallback xmlns="">
      <p:transition spd="slow">
        <p:fade/>
      </p:transition>
    </mc:Fallback>
  </mc:AlternateContent>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967673" y="609599"/>
            <a:ext cx="1304743" cy="5251451"/>
          </a:xfrm>
        </p:spPr>
        <p:txBody>
          <a:bodyPr vert="eaVert" anchor="ctr"/>
          <a:lstStyle/>
          <a:p>
            <a:r>
              <a:rPr lang="en-US"/>
              <a:t>Click to edit Master title style</a:t>
            </a:r>
            <a:endParaRPr lang="en-US" dirty="0"/>
          </a:p>
        </p:txBody>
      </p:sp>
      <p:sp>
        <p:nvSpPr>
          <p:cNvPr id="3" name="Vertical Text Placeholder 2"/>
          <p:cNvSpPr>
            <a:spLocks noGrp="1"/>
          </p:cNvSpPr>
          <p:nvPr>
            <p:ph type="body" orient="vert" idx="1"/>
          </p:nvPr>
        </p:nvSpPr>
        <p:spPr>
          <a:xfrm>
            <a:off x="677335" y="609600"/>
            <a:ext cx="7060150" cy="525145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69AE96B6-13BC-4AA4-9D0C-61E15EC6F2FB}" type="datetimeFigureOut">
              <a:rPr lang="en-IN" smtClean="0"/>
              <a:t>21-04-2026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4A6A112F-43FE-4C07-B635-84E7E8C91AA0}" type="slidenum">
              <a:rPr lang="en-IN" smtClean="0"/>
              <a:t>‹#›</a:t>
            </a:fld>
            <a:endParaRPr lang="en-IN"/>
          </a:p>
        </p:txBody>
      </p:sp>
    </p:spTree>
    <p:extLst>
      <p:ext uri="{BB962C8B-B14F-4D97-AF65-F5344CB8AC3E}">
        <p14:creationId xmlns:p14="http://schemas.microsoft.com/office/powerpoint/2010/main" val="3686260661"/>
      </p:ext>
    </p:extLst>
  </p:cSld>
  <p:clrMapOvr>
    <a:masterClrMapping/>
  </p:clrMapOvr>
  <mc:AlternateContent xmlns:mc="http://schemas.openxmlformats.org/markup-compatibility/2006" xmlns:p14="http://schemas.microsoft.com/office/powerpoint/2010/main">
    <mc:Choice Requires="p14">
      <p:transition spd="slow" p14:dur="800">
        <p14:flythrough/>
      </p:transition>
    </mc:Choice>
    <mc:Fallback xmlns="">
      <p:transition spd="slow">
        <p:fade/>
      </p:transition>
    </mc:Fallback>
  </mc:AlternateConten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pSp>
        <p:nvGrpSpPr>
          <p:cNvPr id="44" name="Group 43"/>
          <p:cNvGrpSpPr/>
          <p:nvPr/>
        </p:nvGrpSpPr>
        <p:grpSpPr>
          <a:xfrm>
            <a:off x="0" y="-8467"/>
            <a:ext cx="12192000" cy="6866467"/>
            <a:chOff x="0" y="-8467"/>
            <a:chExt cx="12192000" cy="6866467"/>
          </a:xfrm>
        </p:grpSpPr>
        <p:cxnSp>
          <p:nvCxnSpPr>
            <p:cNvPr id="20" name="Straight Connector 19"/>
            <p:cNvCxnSpPr/>
            <p:nvPr/>
          </p:nvCxnSpPr>
          <p:spPr>
            <a:xfrm>
              <a:off x="9371012" y="0"/>
              <a:ext cx="1219200" cy="6858000"/>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sp>
          <p:nvSpPr>
            <p:cNvPr id="22"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6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IN"/>
            </a:p>
          </p:txBody>
        </p:sp>
        <p:sp>
          <p:nvSpPr>
            <p:cNvPr id="23"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IN"/>
            </a:p>
          </p:txBody>
        </p:sp>
        <p:sp>
          <p:nvSpPr>
            <p:cNvPr id="24" name="Isosceles Triangle 23"/>
            <p:cNvSpPr/>
            <p:nvPr/>
          </p:nvSpPr>
          <p:spPr>
            <a:xfrm>
              <a:off x="8932333" y="3048000"/>
              <a:ext cx="3259667" cy="3810000"/>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IN"/>
            </a:p>
          </p:txBody>
        </p:sp>
        <p:sp>
          <p:nvSpPr>
            <p:cNvPr id="25"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1">
                <a:lumMod val="75000"/>
                <a:alpha val="5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IN"/>
            </a:p>
          </p:txBody>
        </p:sp>
        <p:sp>
          <p:nvSpPr>
            <p:cNvPr id="26"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2">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IN"/>
            </a:p>
          </p:txBody>
        </p:sp>
        <p:sp>
          <p:nvSpPr>
            <p:cNvPr id="27"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2">
                <a:lumMod val="75000"/>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IN"/>
            </a:p>
          </p:txBody>
        </p:sp>
        <p:sp>
          <p:nvSpPr>
            <p:cNvPr id="28" name="Isosceles Triangle 27"/>
            <p:cNvSpPr/>
            <p:nvPr/>
          </p:nvSpPr>
          <p:spPr>
            <a:xfrm>
              <a:off x="10371666" y="3589867"/>
              <a:ext cx="1817159" cy="3268133"/>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IN"/>
            </a:p>
          </p:txBody>
        </p:sp>
        <p:sp>
          <p:nvSpPr>
            <p:cNvPr id="19" name="Isosceles Triangle 18"/>
            <p:cNvSpPr/>
            <p:nvPr/>
          </p:nvSpPr>
          <p:spPr>
            <a:xfrm>
              <a:off x="0" y="4013200"/>
              <a:ext cx="448733" cy="2844800"/>
            </a:xfrm>
            <a:prstGeom prst="triangle">
              <a:avLst>
                <a:gd name="adj" fmla="val 0"/>
              </a:avLst>
            </a:prstGeom>
            <a:solidFill>
              <a:schemeClr val="accent1">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IN"/>
            </a:p>
          </p:txBody>
        </p:sp>
      </p:grpSp>
      <p:sp>
        <p:nvSpPr>
          <p:cNvPr id="2" name="Title Placeholder 1"/>
          <p:cNvSpPr>
            <a:spLocks noGrp="1"/>
          </p:cNvSpPr>
          <p:nvPr>
            <p:ph type="title"/>
          </p:nvPr>
        </p:nvSpPr>
        <p:spPr>
          <a:xfrm>
            <a:off x="677334" y="609600"/>
            <a:ext cx="8596668" cy="1320800"/>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p:cNvSpPr>
            <a:spLocks noGrp="1"/>
          </p:cNvSpPr>
          <p:nvPr>
            <p:ph type="body" idx="1"/>
          </p:nvPr>
        </p:nvSpPr>
        <p:spPr>
          <a:xfrm>
            <a:off x="677334" y="2160589"/>
            <a:ext cx="8596668" cy="388077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205133" y="6041362"/>
            <a:ext cx="911939"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69AE96B6-13BC-4AA4-9D0C-61E15EC6F2FB}" type="datetimeFigureOut">
              <a:rPr lang="en-IN" smtClean="0"/>
              <a:t>21-04-2026</a:t>
            </a:fld>
            <a:endParaRPr lang="en-IN"/>
          </a:p>
        </p:txBody>
      </p:sp>
      <p:sp>
        <p:nvSpPr>
          <p:cNvPr id="5" name="Footer Placeholder 4"/>
          <p:cNvSpPr>
            <a:spLocks noGrp="1"/>
          </p:cNvSpPr>
          <p:nvPr>
            <p:ph type="ftr" sz="quarter" idx="3"/>
          </p:nvPr>
        </p:nvSpPr>
        <p:spPr>
          <a:xfrm>
            <a:off x="677334" y="6041362"/>
            <a:ext cx="6297612" cy="365125"/>
          </a:xfrm>
          <a:prstGeom prst="rect">
            <a:avLst/>
          </a:prstGeom>
        </p:spPr>
        <p:txBody>
          <a:bodyPr vert="horz" lIns="91440" tIns="45720" rIns="91440" bIns="45720" rtlCol="0" anchor="ctr"/>
          <a:lstStyle>
            <a:lvl1pPr algn="l">
              <a:defRPr sz="900">
                <a:solidFill>
                  <a:schemeClr val="tx1">
                    <a:tint val="75000"/>
                  </a:schemeClr>
                </a:solidFill>
              </a:defRPr>
            </a:lvl1pPr>
          </a:lstStyle>
          <a:p>
            <a:endParaRPr lang="en-IN"/>
          </a:p>
        </p:txBody>
      </p:sp>
      <p:sp>
        <p:nvSpPr>
          <p:cNvPr id="6" name="Slide Number Placeholder 5"/>
          <p:cNvSpPr>
            <a:spLocks noGrp="1"/>
          </p:cNvSpPr>
          <p:nvPr>
            <p:ph type="sldNum" sz="quarter" idx="4"/>
          </p:nvPr>
        </p:nvSpPr>
        <p:spPr>
          <a:xfrm>
            <a:off x="8590663" y="6041362"/>
            <a:ext cx="683339" cy="365125"/>
          </a:xfrm>
          <a:prstGeom prst="rect">
            <a:avLst/>
          </a:prstGeom>
        </p:spPr>
        <p:txBody>
          <a:bodyPr vert="horz" lIns="91440" tIns="45720" rIns="91440" bIns="45720" rtlCol="0" anchor="ctr"/>
          <a:lstStyle>
            <a:lvl1pPr algn="r">
              <a:defRPr sz="900">
                <a:solidFill>
                  <a:schemeClr val="accent1"/>
                </a:solidFill>
              </a:defRPr>
            </a:lvl1pPr>
          </a:lstStyle>
          <a:p>
            <a:fld id="{4A6A112F-43FE-4C07-B635-84E7E8C91AA0}" type="slidenum">
              <a:rPr lang="en-IN" smtClean="0"/>
              <a:t>‹#›</a:t>
            </a:fld>
            <a:endParaRPr lang="en-IN"/>
          </a:p>
        </p:txBody>
      </p:sp>
    </p:spTree>
    <p:extLst>
      <p:ext uri="{BB962C8B-B14F-4D97-AF65-F5344CB8AC3E}">
        <p14:creationId xmlns:p14="http://schemas.microsoft.com/office/powerpoint/2010/main" val="1651608455"/>
      </p:ext>
    </p:extLst>
  </p:cSld>
  <p:clrMap bg1="lt1" tx1="dk1" bg2="lt2" tx2="dk2" accent1="accent1" accent2="accent2" accent3="accent3" accent4="accent4" accent5="accent5" accent6="accent6" hlink="hlink" folHlink="folHlink"/>
  <p:sldLayoutIdLst>
    <p:sldLayoutId id="2147483765" r:id="rId1"/>
    <p:sldLayoutId id="2147483766" r:id="rId2"/>
    <p:sldLayoutId id="2147483767" r:id="rId3"/>
    <p:sldLayoutId id="2147483768" r:id="rId4"/>
    <p:sldLayoutId id="2147483769" r:id="rId5"/>
    <p:sldLayoutId id="2147483770" r:id="rId6"/>
    <p:sldLayoutId id="2147483771" r:id="rId7"/>
    <p:sldLayoutId id="2147483772" r:id="rId8"/>
    <p:sldLayoutId id="2147483773" r:id="rId9"/>
    <p:sldLayoutId id="2147483774" r:id="rId10"/>
    <p:sldLayoutId id="2147483775" r:id="rId11"/>
    <p:sldLayoutId id="2147483776" r:id="rId12"/>
    <p:sldLayoutId id="2147483777" r:id="rId13"/>
    <p:sldLayoutId id="2147483778" r:id="rId14"/>
    <p:sldLayoutId id="2147483779" r:id="rId15"/>
    <p:sldLayoutId id="2147483780" r:id="rId16"/>
  </p:sldLayoutIdLst>
  <mc:AlternateContent xmlns:mc="http://schemas.openxmlformats.org/markup-compatibility/2006" xmlns:p14="http://schemas.microsoft.com/office/powerpoint/2010/main">
    <mc:Choice Requires="p14">
      <p:transition spd="slow" p14:dur="800">
        <p14:flythrough/>
      </p:transition>
    </mc:Choice>
    <mc:Fallback xmlns="">
      <p:transition spd="slow">
        <p:fade/>
      </p:transition>
    </mc:Fallback>
  </mc:AlternateContent>
  <p:txStyles>
    <p:title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hyperlink" Target="https://www.sciencedirect.com/science/article/pii/S0022510X26001280" TargetMode="External"/><Relationship Id="rId2" Type="http://schemas.openxmlformats.org/officeDocument/2006/relationships/hyperlink" Target="https://pmc.ncbi.nlm.nih.gov/articles/PMC12661373/" TargetMode="Externa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2.png"/><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14.xml.rels><?xml version="1.0" encoding="UTF-8" standalone="yes"?>
<Relationships xmlns="http://schemas.openxmlformats.org/package/2006/relationships"><Relationship Id="rId3" Type="http://schemas.openxmlformats.org/officeDocument/2006/relationships/image" Target="../media/image8.jpe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12.xml"/></Relationships>
</file>

<file path=ppt/slides/_rels/slide1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12.xml"/></Relationships>
</file>

<file path=ppt/slides/_rels/slide20.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hyperlink" Target="https://doi.org/10.1016/S1474-4422(17)30470-2" TargetMode="External"/><Relationship Id="rId7" Type="http://schemas.openxmlformats.org/officeDocument/2006/relationships/hyperlink" Target="https://jmlr.org/papers/v12/pedregosa11a.html" TargetMode="External"/><Relationship Id="rId2" Type="http://schemas.openxmlformats.org/officeDocument/2006/relationships/hyperlink" Target="https://doi.org/10.1212/WNL.0000000000000560" TargetMode="External"/><Relationship Id="rId1" Type="http://schemas.openxmlformats.org/officeDocument/2006/relationships/slideLayout" Target="../slideLayouts/slideLayout2.xml"/><Relationship Id="rId6" Type="http://schemas.openxmlformats.org/officeDocument/2006/relationships/hyperlink" Target="https://arxiv.org/abs/1705.07874" TargetMode="External"/><Relationship Id="rId5" Type="http://schemas.openxmlformats.org/officeDocument/2006/relationships/hyperlink" Target="https://arxiv.org/abs/1905.07697" TargetMode="External"/><Relationship Id="rId4" Type="http://schemas.openxmlformats.org/officeDocument/2006/relationships/hyperlink" Target="https://doi.org/10.1145/2939672.2939785" TargetMode="External"/></Relationships>
</file>

<file path=ppt/slides/_rels/slide2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TextBox 10">
            <a:extLst>
              <a:ext uri="{FF2B5EF4-FFF2-40B4-BE49-F238E27FC236}">
                <a16:creationId xmlns:a16="http://schemas.microsoft.com/office/drawing/2014/main" id="{D1BADFD4-15AB-815E-227D-5C2F4E15DC3D}"/>
              </a:ext>
            </a:extLst>
          </p:cNvPr>
          <p:cNvSpPr txBox="1"/>
          <p:nvPr/>
        </p:nvSpPr>
        <p:spPr>
          <a:xfrm>
            <a:off x="5638800" y="2974258"/>
            <a:ext cx="914400" cy="914400"/>
          </a:xfrm>
          <a:prstGeom prst="rect">
            <a:avLst/>
          </a:prstGeom>
          <a:noFill/>
        </p:spPr>
        <p:txBody>
          <a:bodyPr wrap="square" rtlCol="0">
            <a:spAutoFit/>
          </a:bodyPr>
          <a:lstStyle/>
          <a:p>
            <a:endParaRPr lang="en-IN" dirty="0"/>
          </a:p>
        </p:txBody>
      </p:sp>
      <p:sp>
        <p:nvSpPr>
          <p:cNvPr id="12" name="TextBox 11">
            <a:extLst>
              <a:ext uri="{FF2B5EF4-FFF2-40B4-BE49-F238E27FC236}">
                <a16:creationId xmlns:a16="http://schemas.microsoft.com/office/drawing/2014/main" id="{0426E4EE-BD7C-A14F-FA40-714FAA93B510}"/>
              </a:ext>
            </a:extLst>
          </p:cNvPr>
          <p:cNvSpPr txBox="1"/>
          <p:nvPr/>
        </p:nvSpPr>
        <p:spPr>
          <a:xfrm>
            <a:off x="2506390" y="2048107"/>
            <a:ext cx="7179219" cy="2523768"/>
          </a:xfrm>
          <a:prstGeom prst="rect">
            <a:avLst/>
          </a:prstGeom>
          <a:noFill/>
        </p:spPr>
        <p:txBody>
          <a:bodyPr wrap="square" rtlCol="0">
            <a:spAutoFit/>
          </a:bodyPr>
          <a:lstStyle/>
          <a:p>
            <a:pPr algn="ctr"/>
            <a:r>
              <a:rPr lang="en-IN" sz="2800" b="1" dirty="0">
                <a:latin typeface="Times New Roman" panose="02020603050405020304" pitchFamily="18" charset="0"/>
                <a:cs typeface="Times New Roman" panose="02020603050405020304" pitchFamily="18" charset="0"/>
              </a:rPr>
              <a:t>Department of Computer Science</a:t>
            </a:r>
          </a:p>
          <a:p>
            <a:pPr algn="ctr"/>
            <a:r>
              <a:rPr lang="en-IN" sz="2800" b="1" dirty="0">
                <a:latin typeface="Times New Roman" panose="02020603050405020304" pitchFamily="18" charset="0"/>
                <a:cs typeface="Times New Roman" panose="02020603050405020304" pitchFamily="18" charset="0"/>
              </a:rPr>
              <a:t>Mini Project</a:t>
            </a:r>
          </a:p>
          <a:p>
            <a:pPr algn="ctr"/>
            <a:r>
              <a:rPr lang="en-IN" sz="2800" b="1" dirty="0">
                <a:latin typeface="Times New Roman" panose="02020603050405020304" pitchFamily="18" charset="0"/>
                <a:cs typeface="Times New Roman" panose="02020603050405020304" pitchFamily="18" charset="0"/>
              </a:rPr>
              <a:t>On</a:t>
            </a:r>
          </a:p>
          <a:p>
            <a:pPr algn="ctr"/>
            <a:r>
              <a:rPr lang="en-IN" sz="2300" b="1" dirty="0">
                <a:latin typeface="Times New Roman" panose="02020603050405020304" pitchFamily="18" charset="0"/>
                <a:cs typeface="Times New Roman" panose="02020603050405020304" pitchFamily="18" charset="0"/>
              </a:rPr>
              <a:t>Explainable AI for Multiple Sclerosis Subtype Classification with Counterfactual Explanations</a:t>
            </a:r>
          </a:p>
          <a:p>
            <a:pPr algn="ctr"/>
            <a:endParaRPr lang="en-IN" sz="2800" b="1" dirty="0">
              <a:latin typeface="Times New Roman" panose="02020603050405020304" pitchFamily="18" charset="0"/>
              <a:cs typeface="Times New Roman" panose="02020603050405020304" pitchFamily="18" charset="0"/>
            </a:endParaRPr>
          </a:p>
        </p:txBody>
      </p:sp>
      <p:sp>
        <p:nvSpPr>
          <p:cNvPr id="13" name="TextBox 12">
            <a:extLst>
              <a:ext uri="{FF2B5EF4-FFF2-40B4-BE49-F238E27FC236}">
                <a16:creationId xmlns:a16="http://schemas.microsoft.com/office/drawing/2014/main" id="{1D85E39D-D1F5-3826-AF45-081DE816E02B}"/>
              </a:ext>
            </a:extLst>
          </p:cNvPr>
          <p:cNvSpPr txBox="1"/>
          <p:nvPr/>
        </p:nvSpPr>
        <p:spPr>
          <a:xfrm>
            <a:off x="1238865" y="4621412"/>
            <a:ext cx="4965290" cy="1200329"/>
          </a:xfrm>
          <a:prstGeom prst="rect">
            <a:avLst/>
          </a:prstGeom>
          <a:noFill/>
        </p:spPr>
        <p:txBody>
          <a:bodyPr wrap="square" rtlCol="0">
            <a:spAutoFit/>
          </a:bodyPr>
          <a:lstStyle/>
          <a:p>
            <a:r>
              <a:rPr lang="en-IN" dirty="0">
                <a:latin typeface="Times New Roman" panose="02020603050405020304" pitchFamily="18" charset="0"/>
                <a:cs typeface="Times New Roman" panose="02020603050405020304" pitchFamily="18" charset="0"/>
              </a:rPr>
              <a:t>Presented by:</a:t>
            </a:r>
          </a:p>
          <a:p>
            <a:r>
              <a:rPr lang="en-IN" dirty="0">
                <a:latin typeface="Times New Roman" panose="02020603050405020304" pitchFamily="18" charset="0"/>
                <a:cs typeface="Times New Roman" panose="02020603050405020304" pitchFamily="18" charset="0"/>
              </a:rPr>
              <a:t>Mohammed Mustafa (160923753001)</a:t>
            </a:r>
          </a:p>
          <a:p>
            <a:r>
              <a:rPr lang="en-IN" dirty="0">
                <a:latin typeface="Times New Roman" panose="02020603050405020304" pitchFamily="18" charset="0"/>
                <a:cs typeface="Times New Roman" panose="02020603050405020304" pitchFamily="18" charset="0"/>
              </a:rPr>
              <a:t>Syed Atha Ullah Shareef (160923753002)</a:t>
            </a:r>
          </a:p>
          <a:p>
            <a:r>
              <a:rPr lang="en-IN" dirty="0">
                <a:latin typeface="Times New Roman" panose="02020603050405020304" pitchFamily="18" charset="0"/>
                <a:cs typeface="Times New Roman" panose="02020603050405020304" pitchFamily="18" charset="0"/>
              </a:rPr>
              <a:t>Mohammed Mustaqeem Uddin (160923753017)</a:t>
            </a:r>
          </a:p>
        </p:txBody>
      </p:sp>
      <p:sp>
        <p:nvSpPr>
          <p:cNvPr id="15" name="TextBox 14">
            <a:extLst>
              <a:ext uri="{FF2B5EF4-FFF2-40B4-BE49-F238E27FC236}">
                <a16:creationId xmlns:a16="http://schemas.microsoft.com/office/drawing/2014/main" id="{CB62A8CB-60A8-FD97-1769-457E4D8C42D4}"/>
              </a:ext>
            </a:extLst>
          </p:cNvPr>
          <p:cNvSpPr txBox="1"/>
          <p:nvPr/>
        </p:nvSpPr>
        <p:spPr>
          <a:xfrm>
            <a:off x="8200103" y="4898411"/>
            <a:ext cx="3957483" cy="923330"/>
          </a:xfrm>
          <a:prstGeom prst="rect">
            <a:avLst/>
          </a:prstGeom>
          <a:noFill/>
        </p:spPr>
        <p:txBody>
          <a:bodyPr wrap="square" rtlCol="0">
            <a:spAutoFit/>
          </a:bodyPr>
          <a:lstStyle/>
          <a:p>
            <a:r>
              <a:rPr lang="en-IN" dirty="0">
                <a:latin typeface="Times New Roman" panose="02020603050405020304" pitchFamily="18" charset="0"/>
                <a:cs typeface="Times New Roman" panose="02020603050405020304" pitchFamily="18" charset="0"/>
              </a:rPr>
              <a:t>Guide Name:</a:t>
            </a:r>
          </a:p>
          <a:p>
            <a:r>
              <a:rPr lang="en-IN" dirty="0">
                <a:latin typeface="Times New Roman" panose="02020603050405020304" pitchFamily="18" charset="0"/>
                <a:cs typeface="Times New Roman" panose="02020603050405020304" pitchFamily="18" charset="0"/>
              </a:rPr>
              <a:t>Mrs. Hajira Sabuhi</a:t>
            </a:r>
          </a:p>
          <a:p>
            <a:r>
              <a:rPr lang="en-IN" dirty="0">
                <a:latin typeface="Times New Roman" panose="02020603050405020304" pitchFamily="18" charset="0"/>
                <a:cs typeface="Times New Roman" panose="02020603050405020304" pitchFamily="18" charset="0"/>
              </a:rPr>
              <a:t>Assistant Professor</a:t>
            </a:r>
          </a:p>
        </p:txBody>
      </p:sp>
      <p:pic>
        <p:nvPicPr>
          <p:cNvPr id="1026" name="Picture 2" descr="Lords Institute of Engineering and Technology – Official Website">
            <a:extLst>
              <a:ext uri="{FF2B5EF4-FFF2-40B4-BE49-F238E27FC236}">
                <a16:creationId xmlns:a16="http://schemas.microsoft.com/office/drawing/2014/main" id="{E65ECB59-4011-45E1-F72A-D3E3B4C334E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449893" y="74833"/>
            <a:ext cx="4750210" cy="164673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734959138"/>
      </p:ext>
    </p:extLst>
  </p:cSld>
  <p:clrMapOvr>
    <a:masterClrMapping/>
  </p:clrMapOvr>
  <mc:AlternateContent xmlns:mc="http://schemas.openxmlformats.org/markup-compatibility/2006" xmlns:p14="http://schemas.microsoft.com/office/powerpoint/2010/main">
    <mc:Choice Requires="p14">
      <p:transition spd="slow" p14:dur="900">
        <p14:flythrough hasBounce="1"/>
      </p:transition>
    </mc:Choice>
    <mc:Fallback xmlns="">
      <p:transition spd="slow">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EDDF4EAB-E2D8-9E55-3A39-CF9320AA1E3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196052" y="298147"/>
            <a:ext cx="1526020" cy="1776017"/>
          </a:xfrm>
          <a:prstGeom prst="rect">
            <a:avLst/>
          </a:prstGeom>
        </p:spPr>
      </p:pic>
      <p:sp>
        <p:nvSpPr>
          <p:cNvPr id="4" name="Title 3">
            <a:extLst>
              <a:ext uri="{FF2B5EF4-FFF2-40B4-BE49-F238E27FC236}">
                <a16:creationId xmlns:a16="http://schemas.microsoft.com/office/drawing/2014/main" id="{2570D9EC-550E-DD8D-3369-37A101CA2498}"/>
              </a:ext>
            </a:extLst>
          </p:cNvPr>
          <p:cNvSpPr>
            <a:spLocks noGrp="1"/>
          </p:cNvSpPr>
          <p:nvPr>
            <p:ph type="title"/>
          </p:nvPr>
        </p:nvSpPr>
        <p:spPr/>
        <p:txBody>
          <a:bodyPr/>
          <a:lstStyle/>
          <a:p>
            <a:r>
              <a:rPr lang="en-US" dirty="0">
                <a:latin typeface="Times New Roman" panose="02020603050405020304" pitchFamily="18" charset="0"/>
                <a:cs typeface="Times New Roman" panose="02020603050405020304" pitchFamily="18" charset="0"/>
              </a:rPr>
              <a:t>Contents</a:t>
            </a:r>
            <a:endParaRPr lang="en-IN" dirty="0">
              <a:latin typeface="Times New Roman" panose="02020603050405020304" pitchFamily="18" charset="0"/>
              <a:cs typeface="Times New Roman" panose="02020603050405020304" pitchFamily="18" charset="0"/>
            </a:endParaRPr>
          </a:p>
        </p:txBody>
      </p:sp>
      <p:sp>
        <p:nvSpPr>
          <p:cNvPr id="5" name="Content Placeholder 4">
            <a:extLst>
              <a:ext uri="{FF2B5EF4-FFF2-40B4-BE49-F238E27FC236}">
                <a16:creationId xmlns:a16="http://schemas.microsoft.com/office/drawing/2014/main" id="{074851AF-D3BF-9F63-0C1E-FE0C94D9F2E0}"/>
              </a:ext>
            </a:extLst>
          </p:cNvPr>
          <p:cNvSpPr>
            <a:spLocks noGrp="1"/>
          </p:cNvSpPr>
          <p:nvPr>
            <p:ph idx="1"/>
          </p:nvPr>
        </p:nvSpPr>
        <p:spPr>
          <a:xfrm>
            <a:off x="785488" y="1676400"/>
            <a:ext cx="9760592" cy="4739640"/>
          </a:xfrm>
        </p:spPr>
        <p:txBody>
          <a:bodyPr>
            <a:normAutofit lnSpcReduction="10000"/>
          </a:bodyPr>
          <a:lstStyle/>
          <a:p>
            <a:pPr algn="just">
              <a:buFont typeface="+mj-lt"/>
              <a:buAutoNum type="arabicPeriod"/>
            </a:pPr>
            <a:r>
              <a:rPr lang="en-US" sz="2400" dirty="0">
                <a:latin typeface="Times New Roman" panose="02020603050405020304" pitchFamily="18" charset="0"/>
                <a:cs typeface="Times New Roman" panose="02020603050405020304" pitchFamily="18" charset="0"/>
              </a:rPr>
              <a:t>Abstract</a:t>
            </a:r>
          </a:p>
          <a:p>
            <a:pPr algn="just">
              <a:buFont typeface="+mj-lt"/>
              <a:buAutoNum type="arabicPeriod"/>
            </a:pPr>
            <a:r>
              <a:rPr lang="en-US" sz="2400" dirty="0">
                <a:latin typeface="Times New Roman" panose="02020603050405020304" pitchFamily="18" charset="0"/>
                <a:cs typeface="Times New Roman" panose="02020603050405020304" pitchFamily="18" charset="0"/>
              </a:rPr>
              <a:t>Introduction</a:t>
            </a:r>
          </a:p>
          <a:p>
            <a:pPr algn="just">
              <a:buFont typeface="+mj-lt"/>
              <a:buAutoNum type="arabicPeriod"/>
            </a:pPr>
            <a:r>
              <a:rPr lang="en-US" sz="2400" dirty="0">
                <a:latin typeface="Times New Roman" panose="02020603050405020304" pitchFamily="18" charset="0"/>
                <a:cs typeface="Times New Roman" panose="02020603050405020304" pitchFamily="18" charset="0"/>
              </a:rPr>
              <a:t>Literature Survey</a:t>
            </a:r>
          </a:p>
          <a:p>
            <a:pPr algn="just">
              <a:buFont typeface="+mj-lt"/>
              <a:buAutoNum type="arabicPeriod"/>
            </a:pPr>
            <a:r>
              <a:rPr lang="en-US" sz="2400" dirty="0">
                <a:latin typeface="Times New Roman" panose="02020603050405020304" pitchFamily="18" charset="0"/>
                <a:cs typeface="Times New Roman" panose="02020603050405020304" pitchFamily="18" charset="0"/>
              </a:rPr>
              <a:t>Existing System</a:t>
            </a:r>
          </a:p>
          <a:p>
            <a:pPr algn="just">
              <a:buFont typeface="+mj-lt"/>
              <a:buAutoNum type="arabicPeriod"/>
            </a:pPr>
            <a:r>
              <a:rPr lang="en-US" sz="2400" dirty="0">
                <a:latin typeface="Times New Roman" panose="02020603050405020304" pitchFamily="18" charset="0"/>
                <a:cs typeface="Times New Roman" panose="02020603050405020304" pitchFamily="18" charset="0"/>
              </a:rPr>
              <a:t>Proposed System </a:t>
            </a:r>
          </a:p>
          <a:p>
            <a:pPr algn="just">
              <a:buFont typeface="+mj-lt"/>
              <a:buAutoNum type="arabicPeriod"/>
            </a:pPr>
            <a:r>
              <a:rPr lang="en-US" sz="2400" dirty="0">
                <a:latin typeface="Times New Roman" panose="02020603050405020304" pitchFamily="18" charset="0"/>
                <a:cs typeface="Times New Roman" panose="02020603050405020304" pitchFamily="18" charset="0"/>
              </a:rPr>
              <a:t>Methodology</a:t>
            </a:r>
          </a:p>
          <a:p>
            <a:pPr algn="just">
              <a:buFont typeface="+mj-lt"/>
              <a:buAutoNum type="arabicPeriod"/>
            </a:pPr>
            <a:r>
              <a:rPr lang="en-US" sz="2400" dirty="0">
                <a:latin typeface="Times New Roman" panose="02020603050405020304" pitchFamily="18" charset="0"/>
                <a:cs typeface="Times New Roman" panose="02020603050405020304" pitchFamily="18" charset="0"/>
              </a:rPr>
              <a:t>Implementation</a:t>
            </a:r>
          </a:p>
          <a:p>
            <a:pPr algn="just">
              <a:buFont typeface="+mj-lt"/>
              <a:buAutoNum type="arabicPeriod"/>
            </a:pPr>
            <a:r>
              <a:rPr lang="en-US" sz="2400" dirty="0">
                <a:latin typeface="Times New Roman" panose="02020603050405020304" pitchFamily="18" charset="0"/>
                <a:cs typeface="Times New Roman" panose="02020603050405020304" pitchFamily="18" charset="0"/>
              </a:rPr>
              <a:t>Result</a:t>
            </a:r>
          </a:p>
          <a:p>
            <a:pPr algn="just">
              <a:buFont typeface="+mj-lt"/>
              <a:buAutoNum type="arabicPeriod"/>
            </a:pPr>
            <a:r>
              <a:rPr lang="en-US" sz="2400" dirty="0">
                <a:latin typeface="Times New Roman" panose="02020603050405020304" pitchFamily="18" charset="0"/>
                <a:cs typeface="Times New Roman" panose="02020603050405020304" pitchFamily="18" charset="0"/>
              </a:rPr>
              <a:t>Conclusion</a:t>
            </a:r>
          </a:p>
          <a:p>
            <a:pPr algn="just">
              <a:buFont typeface="+mj-lt"/>
              <a:buAutoNum type="arabicPeriod"/>
            </a:pPr>
            <a:r>
              <a:rPr lang="en-US" sz="2400" dirty="0">
                <a:latin typeface="Times New Roman" panose="02020603050405020304" pitchFamily="18" charset="0"/>
                <a:cs typeface="Times New Roman" panose="02020603050405020304" pitchFamily="18" charset="0"/>
              </a:rPr>
              <a:t>References</a:t>
            </a:r>
          </a:p>
          <a:p>
            <a:pPr marL="400050" indent="-400050" algn="just">
              <a:buAutoNum type="arabicPeriod"/>
            </a:pPr>
            <a:endParaRPr lang="en-IN" dirty="0"/>
          </a:p>
        </p:txBody>
      </p:sp>
    </p:spTree>
    <p:extLst>
      <p:ext uri="{BB962C8B-B14F-4D97-AF65-F5344CB8AC3E}">
        <p14:creationId xmlns:p14="http://schemas.microsoft.com/office/powerpoint/2010/main" val="418503949"/>
      </p:ext>
    </p:extLst>
  </p:cSld>
  <p:clrMapOvr>
    <a:masterClrMapping/>
  </p:clrMapOvr>
  <mc:AlternateContent xmlns:mc="http://schemas.openxmlformats.org/markup-compatibility/2006" xmlns:p14="http://schemas.microsoft.com/office/powerpoint/2010/main">
    <mc:Choice Requires="p14">
      <p:transition spd="slow" p14:dur="800">
        <p14:flythrough/>
      </p:transition>
    </mc:Choice>
    <mc:Fallback xmlns="">
      <p:transition spd="slow">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9287B9-86EF-FD68-721A-CF6A5D2DF3AA}"/>
              </a:ext>
            </a:extLst>
          </p:cNvPr>
          <p:cNvSpPr>
            <a:spLocks noGrp="1"/>
          </p:cNvSpPr>
          <p:nvPr>
            <p:ph type="title"/>
          </p:nvPr>
        </p:nvSpPr>
        <p:spPr/>
        <p:txBody>
          <a:bodyPr/>
          <a:lstStyle/>
          <a:p>
            <a:pPr marL="742950" indent="-742950" algn="ctr">
              <a:buFont typeface="+mj-lt"/>
              <a:buAutoNum type="arabicPeriod"/>
            </a:pPr>
            <a:r>
              <a:rPr lang="en-US" dirty="0">
                <a:latin typeface="Times New Roman" panose="02020603050405020304" pitchFamily="18" charset="0"/>
                <a:cs typeface="Times New Roman" panose="02020603050405020304" pitchFamily="18" charset="0"/>
              </a:rPr>
              <a:t>Abstract</a:t>
            </a:r>
            <a:endParaRPr lang="en-IN" dirty="0">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B49123B8-D949-0539-2981-8A5F9B6F55D0}"/>
              </a:ext>
            </a:extLst>
          </p:cNvPr>
          <p:cNvSpPr>
            <a:spLocks noGrp="1"/>
          </p:cNvSpPr>
          <p:nvPr>
            <p:ph idx="1"/>
          </p:nvPr>
        </p:nvSpPr>
        <p:spPr/>
        <p:txBody>
          <a:bodyPr>
            <a:normAutofit/>
          </a:bodyPr>
          <a:lstStyle/>
          <a:p>
            <a:pPr algn="just"/>
            <a:r>
              <a:rPr lang="en-US" sz="2000" dirty="0">
                <a:latin typeface="Times New Roman" panose="02020603050405020304" pitchFamily="18" charset="0"/>
                <a:cs typeface="Times New Roman" panose="02020603050405020304" pitchFamily="18" charset="0"/>
              </a:rPr>
              <a:t>This project presents an advanced, explainable machine learning framework for accurately classifying multi-class Multiple Sclerosis (MS) subtypes. Differentiating between MS variants—such as Relapsing-Remitting or Primary Progressive—is clinically complex but essential for delivering personalized treatments. By leveraging an augmented clinical dataset, the proposed system evaluates high-performance algorithms, including XGBoost and RandomForest, to quickly categorize the disease state. Crucially, the system integrates Explainable AI (XAI) tools like SHAP and DiCE to provide clear feature importance and actionable counterfactual scenarios, ultimately empowering clinicians with transparent, data-driven diagnostic support.</a:t>
            </a:r>
            <a:endParaRPr lang="en-IN" sz="2000" dirty="0">
              <a:latin typeface="Times New Roman" panose="02020603050405020304" pitchFamily="18" charset="0"/>
              <a:cs typeface="Times New Roman" panose="02020603050405020304" pitchFamily="18" charset="0"/>
            </a:endParaRPr>
          </a:p>
        </p:txBody>
      </p:sp>
      <p:pic>
        <p:nvPicPr>
          <p:cNvPr id="4" name="Picture 3">
            <a:extLst>
              <a:ext uri="{FF2B5EF4-FFF2-40B4-BE49-F238E27FC236}">
                <a16:creationId xmlns:a16="http://schemas.microsoft.com/office/drawing/2014/main" id="{8442E4A3-1D8E-F34B-658C-F35F77B87EC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196052" y="298147"/>
            <a:ext cx="1526020" cy="1776017"/>
          </a:xfrm>
          <a:prstGeom prst="rect">
            <a:avLst/>
          </a:prstGeom>
        </p:spPr>
      </p:pic>
      <p:sp>
        <p:nvSpPr>
          <p:cNvPr id="5" name="TextBox 4">
            <a:extLst>
              <a:ext uri="{FF2B5EF4-FFF2-40B4-BE49-F238E27FC236}">
                <a16:creationId xmlns:a16="http://schemas.microsoft.com/office/drawing/2014/main" id="{98CAAED7-8097-2E21-DE29-918CFBB5701D}"/>
              </a:ext>
            </a:extLst>
          </p:cNvPr>
          <p:cNvSpPr txBox="1"/>
          <p:nvPr/>
        </p:nvSpPr>
        <p:spPr>
          <a:xfrm>
            <a:off x="11021961" y="6538452"/>
            <a:ext cx="987771" cy="369332"/>
          </a:xfrm>
          <a:prstGeom prst="rect">
            <a:avLst/>
          </a:prstGeom>
          <a:noFill/>
        </p:spPr>
        <p:txBody>
          <a:bodyPr wrap="none" rtlCol="0">
            <a:spAutoFit/>
          </a:bodyPr>
          <a:lstStyle/>
          <a:p>
            <a:r>
              <a:rPr lang="en-US" dirty="0">
                <a:solidFill>
                  <a:schemeClr val="accent5">
                    <a:lumMod val="50000"/>
                  </a:schemeClr>
                </a:solidFill>
              </a:rPr>
              <a:t>Mustafa</a:t>
            </a:r>
            <a:endParaRPr lang="en-IN" dirty="0">
              <a:solidFill>
                <a:schemeClr val="accent5">
                  <a:lumMod val="50000"/>
                </a:schemeClr>
              </a:solidFill>
            </a:endParaRPr>
          </a:p>
        </p:txBody>
      </p:sp>
    </p:spTree>
    <p:extLst>
      <p:ext uri="{BB962C8B-B14F-4D97-AF65-F5344CB8AC3E}">
        <p14:creationId xmlns:p14="http://schemas.microsoft.com/office/powerpoint/2010/main" val="2935453384"/>
      </p:ext>
    </p:extLst>
  </p:cSld>
  <p:clrMapOvr>
    <a:masterClrMapping/>
  </p:clrMapOvr>
  <mc:AlternateContent xmlns:mc="http://schemas.openxmlformats.org/markup-compatibility/2006" xmlns:p14="http://schemas.microsoft.com/office/powerpoint/2010/main">
    <mc:Choice Requires="p14">
      <p:transition spd="slow" p14:dur="800">
        <p14:flythrough/>
      </p:transition>
    </mc:Choice>
    <mc:Fallback xmlns="">
      <p:transition spd="slow">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A6FCFE-DA01-4819-5FA5-1CD97824EAFD}"/>
              </a:ext>
            </a:extLst>
          </p:cNvPr>
          <p:cNvSpPr>
            <a:spLocks noGrp="1"/>
          </p:cNvSpPr>
          <p:nvPr>
            <p:ph type="title"/>
          </p:nvPr>
        </p:nvSpPr>
        <p:spPr/>
        <p:txBody>
          <a:bodyPr/>
          <a:lstStyle/>
          <a:p>
            <a:pPr algn="ctr"/>
            <a:r>
              <a:rPr lang="en-US" dirty="0">
                <a:latin typeface="Times New Roman" panose="02020603050405020304" pitchFamily="18" charset="0"/>
                <a:cs typeface="Times New Roman" panose="02020603050405020304" pitchFamily="18" charset="0"/>
              </a:rPr>
              <a:t>2. Introduction</a:t>
            </a:r>
            <a:endParaRPr lang="en-IN" dirty="0">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6D782412-58B9-439C-A685-D1FFDDD1160B}"/>
              </a:ext>
            </a:extLst>
          </p:cNvPr>
          <p:cNvSpPr>
            <a:spLocks noGrp="1"/>
          </p:cNvSpPr>
          <p:nvPr>
            <p:ph idx="1"/>
          </p:nvPr>
        </p:nvSpPr>
        <p:spPr/>
        <p:txBody>
          <a:bodyPr>
            <a:normAutofit/>
          </a:bodyPr>
          <a:lstStyle/>
          <a:p>
            <a:pPr algn="just"/>
            <a:r>
              <a:rPr lang="en-US" sz="2000" dirty="0">
                <a:latin typeface="Times New Roman" panose="02020603050405020304" pitchFamily="18" charset="0"/>
                <a:cs typeface="Times New Roman" panose="02020603050405020304" pitchFamily="18" charset="0"/>
              </a:rPr>
              <a:t>Multiple Sclerosis (MS) is a complex neurological disease that manifests in several distinct clinical subtypes.</a:t>
            </a:r>
          </a:p>
          <a:p>
            <a:pPr algn="just"/>
            <a:r>
              <a:rPr lang="en-US" sz="2000" dirty="0">
                <a:latin typeface="Times New Roman" panose="02020603050405020304" pitchFamily="18" charset="0"/>
                <a:cs typeface="Times New Roman" panose="02020603050405020304" pitchFamily="18" charset="0"/>
              </a:rPr>
              <a:t>Traditional manual diagnosis requires time-consuming clinical observations and can be prone to human variability.</a:t>
            </a:r>
          </a:p>
          <a:p>
            <a:pPr algn="just"/>
            <a:r>
              <a:rPr lang="en-US" sz="2000" dirty="0">
                <a:latin typeface="Times New Roman" panose="02020603050405020304" pitchFamily="18" charset="0"/>
                <a:cs typeface="Times New Roman" panose="02020603050405020304" pitchFamily="18" charset="0"/>
              </a:rPr>
              <a:t>Integrating Artificial Intelligence allows for the rapid, data-driven categorization of these complicated MS subtypes.</a:t>
            </a:r>
          </a:p>
          <a:p>
            <a:pPr algn="just"/>
            <a:r>
              <a:rPr lang="en-US" sz="2000" dirty="0">
                <a:latin typeface="Times New Roman" panose="02020603050405020304" pitchFamily="18" charset="0"/>
                <a:cs typeface="Times New Roman" panose="02020603050405020304" pitchFamily="18" charset="0"/>
              </a:rPr>
              <a:t>Our project introduces Explainable AI to ensure that model predictions are completely transparent to Clinicians.</a:t>
            </a:r>
          </a:p>
          <a:p>
            <a:pPr algn="just"/>
            <a:endParaRPr lang="en-IN" sz="2000" dirty="0">
              <a:latin typeface="Times New Roman" panose="02020603050405020304" pitchFamily="18" charset="0"/>
              <a:cs typeface="Times New Roman" panose="02020603050405020304" pitchFamily="18" charset="0"/>
            </a:endParaRPr>
          </a:p>
        </p:txBody>
      </p:sp>
      <p:pic>
        <p:nvPicPr>
          <p:cNvPr id="4" name="Picture 3">
            <a:extLst>
              <a:ext uri="{FF2B5EF4-FFF2-40B4-BE49-F238E27FC236}">
                <a16:creationId xmlns:a16="http://schemas.microsoft.com/office/drawing/2014/main" id="{7696617B-2A4C-9791-60B3-3C39A6EAB72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196052" y="288315"/>
            <a:ext cx="1526020" cy="1776017"/>
          </a:xfrm>
          <a:prstGeom prst="rect">
            <a:avLst/>
          </a:prstGeom>
        </p:spPr>
      </p:pic>
      <p:sp>
        <p:nvSpPr>
          <p:cNvPr id="5" name="TextBox 4">
            <a:extLst>
              <a:ext uri="{FF2B5EF4-FFF2-40B4-BE49-F238E27FC236}">
                <a16:creationId xmlns:a16="http://schemas.microsoft.com/office/drawing/2014/main" id="{5932C438-C413-6E4D-E397-DFEAF5963CE6}"/>
              </a:ext>
            </a:extLst>
          </p:cNvPr>
          <p:cNvSpPr txBox="1"/>
          <p:nvPr/>
        </p:nvSpPr>
        <p:spPr>
          <a:xfrm>
            <a:off x="10902089" y="6547662"/>
            <a:ext cx="1354858" cy="369332"/>
          </a:xfrm>
          <a:prstGeom prst="rect">
            <a:avLst/>
          </a:prstGeom>
          <a:noFill/>
        </p:spPr>
        <p:txBody>
          <a:bodyPr wrap="none" rtlCol="0">
            <a:spAutoFit/>
          </a:bodyPr>
          <a:lstStyle/>
          <a:p>
            <a:r>
              <a:rPr lang="en-US" dirty="0">
                <a:solidFill>
                  <a:schemeClr val="accent5">
                    <a:lumMod val="50000"/>
                  </a:schemeClr>
                </a:solidFill>
              </a:rPr>
              <a:t>Mustaqeem</a:t>
            </a:r>
            <a:endParaRPr lang="en-IN" dirty="0">
              <a:solidFill>
                <a:schemeClr val="accent5">
                  <a:lumMod val="50000"/>
                </a:schemeClr>
              </a:solidFill>
            </a:endParaRPr>
          </a:p>
        </p:txBody>
      </p:sp>
    </p:spTree>
    <p:extLst>
      <p:ext uri="{BB962C8B-B14F-4D97-AF65-F5344CB8AC3E}">
        <p14:creationId xmlns:p14="http://schemas.microsoft.com/office/powerpoint/2010/main" val="779127248"/>
      </p:ext>
    </p:extLst>
  </p:cSld>
  <p:clrMapOvr>
    <a:masterClrMapping/>
  </p:clrMapOvr>
  <mc:AlternateContent xmlns:mc="http://schemas.openxmlformats.org/markup-compatibility/2006" xmlns:p14="http://schemas.microsoft.com/office/powerpoint/2010/main">
    <mc:Choice Requires="p14">
      <p:transition spd="slow" p14:dur="800">
        <p14:flythrough/>
      </p:transition>
    </mc:Choice>
    <mc:Fallback xmlns="">
      <p:transition spd="slow">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49FDE6-071F-45E6-5DD6-87F365CD8D03}"/>
              </a:ext>
            </a:extLst>
          </p:cNvPr>
          <p:cNvSpPr>
            <a:spLocks noGrp="1"/>
          </p:cNvSpPr>
          <p:nvPr>
            <p:ph type="title"/>
          </p:nvPr>
        </p:nvSpPr>
        <p:spPr/>
        <p:txBody>
          <a:bodyPr/>
          <a:lstStyle/>
          <a:p>
            <a:pPr algn="ctr"/>
            <a:r>
              <a:rPr lang="en-US" dirty="0">
                <a:latin typeface="Times New Roman" panose="02020603050405020304" pitchFamily="18" charset="0"/>
                <a:cs typeface="Times New Roman" panose="02020603050405020304" pitchFamily="18" charset="0"/>
              </a:rPr>
              <a:t>3. Literature Survey</a:t>
            </a:r>
            <a:endParaRPr lang="en-IN" dirty="0">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E25333CD-89D4-256D-7C4A-5828C7409D53}"/>
              </a:ext>
            </a:extLst>
          </p:cNvPr>
          <p:cNvSpPr>
            <a:spLocks noGrp="1"/>
          </p:cNvSpPr>
          <p:nvPr>
            <p:ph idx="1"/>
          </p:nvPr>
        </p:nvSpPr>
        <p:spPr>
          <a:xfrm>
            <a:off x="677334" y="1711355"/>
            <a:ext cx="8596668" cy="4330008"/>
          </a:xfrm>
        </p:spPr>
        <p:txBody>
          <a:bodyPr>
            <a:normAutofit fontScale="85000" lnSpcReduction="20000"/>
          </a:bodyPr>
          <a:lstStyle/>
          <a:p>
            <a:r>
              <a:rPr lang="en-US" b="1" dirty="0">
                <a:latin typeface="Times New Roman" panose="02020603050405020304" pitchFamily="18" charset="0"/>
                <a:cs typeface="Times New Roman" panose="02020603050405020304" pitchFamily="18" charset="0"/>
              </a:rPr>
              <a:t>(2026)</a:t>
            </a:r>
            <a:r>
              <a:rPr lang="en-US" dirty="0">
                <a:latin typeface="Times New Roman" panose="02020603050405020304" pitchFamily="18" charset="0"/>
                <a:cs typeface="Times New Roman" panose="02020603050405020304" pitchFamily="18" charset="0"/>
              </a:rPr>
              <a:t> </a:t>
            </a:r>
            <a:r>
              <a:rPr lang="en-US" sz="1900" b="1" dirty="0">
                <a:latin typeface="Times New Roman" panose="02020603050405020304" pitchFamily="18" charset="0"/>
                <a:cs typeface="Times New Roman" panose="02020603050405020304" pitchFamily="18" charset="0"/>
              </a:rPr>
              <a:t>Title:</a:t>
            </a:r>
            <a:r>
              <a:rPr lang="en-US" sz="1900" dirty="0">
                <a:latin typeface="Times New Roman" panose="02020603050405020304" pitchFamily="18" charset="0"/>
                <a:cs typeface="Times New Roman" panose="02020603050405020304" pitchFamily="18" charset="0"/>
              </a:rPr>
              <a:t> Machine Learning Analysis Applied to Prediction of Progression Independent of Relapse Activity (PIRA) in Multiple Sclerosis Patients</a:t>
            </a:r>
            <a:br>
              <a:rPr lang="en-US" sz="1900" dirty="0">
                <a:latin typeface="Times New Roman" panose="02020603050405020304" pitchFamily="18" charset="0"/>
                <a:cs typeface="Times New Roman" panose="02020603050405020304" pitchFamily="18" charset="0"/>
              </a:rPr>
            </a:br>
            <a:r>
              <a:rPr lang="en-US" sz="1900" b="1" dirty="0">
                <a:latin typeface="Times New Roman" panose="02020603050405020304" pitchFamily="18" charset="0"/>
                <a:cs typeface="Times New Roman" panose="02020603050405020304" pitchFamily="18" charset="0"/>
              </a:rPr>
              <a:t>Authors:</a:t>
            </a:r>
            <a:r>
              <a:rPr lang="en-US" sz="1900" dirty="0">
                <a:latin typeface="Times New Roman" panose="02020603050405020304" pitchFamily="18" charset="0"/>
                <a:cs typeface="Times New Roman" panose="02020603050405020304" pitchFamily="18" charset="0"/>
              </a:rPr>
              <a:t> </a:t>
            </a:r>
            <a:r>
              <a:rPr lang="en-US" sz="1900" dirty="0" err="1">
                <a:latin typeface="Times New Roman" panose="02020603050405020304" pitchFamily="18" charset="0"/>
                <a:cs typeface="Times New Roman" panose="02020603050405020304" pitchFamily="18" charset="0"/>
              </a:rPr>
              <a:t>Poretto</a:t>
            </a:r>
            <a:r>
              <a:rPr lang="en-US" sz="1900" dirty="0">
                <a:latin typeface="Times New Roman" panose="02020603050405020304" pitchFamily="18" charset="0"/>
                <a:cs typeface="Times New Roman" panose="02020603050405020304" pitchFamily="18" charset="0"/>
              </a:rPr>
              <a:t> et al.</a:t>
            </a:r>
            <a:br>
              <a:rPr lang="en-US" dirty="0">
                <a:latin typeface="Times New Roman" panose="02020603050405020304" pitchFamily="18" charset="0"/>
                <a:cs typeface="Times New Roman" panose="02020603050405020304" pitchFamily="18" charset="0"/>
              </a:rPr>
            </a:br>
            <a:r>
              <a:rPr lang="en-US" b="1" dirty="0">
                <a:latin typeface="Times New Roman" panose="02020603050405020304" pitchFamily="18" charset="0"/>
                <a:cs typeface="Times New Roman" panose="02020603050405020304" pitchFamily="18" charset="0"/>
              </a:rPr>
              <a:t>Link:</a:t>
            </a:r>
            <a:r>
              <a:rPr lang="en-US" dirty="0">
                <a:latin typeface="Times New Roman" panose="02020603050405020304" pitchFamily="18" charset="0"/>
                <a:cs typeface="Times New Roman" panose="02020603050405020304" pitchFamily="18" charset="0"/>
              </a:rPr>
              <a:t> </a:t>
            </a:r>
            <a:r>
              <a:rPr lang="en-US" dirty="0">
                <a:latin typeface="Times New Roman" panose="02020603050405020304" pitchFamily="18" charset="0"/>
                <a:cs typeface="Times New Roman" panose="02020603050405020304" pitchFamily="18" charset="0"/>
                <a:hlinkClick r:id="rId2"/>
              </a:rPr>
              <a:t>https://pmc.ncbi.nlm.nih.gov/articles/PMC12661373/</a:t>
            </a:r>
            <a:endParaRPr lang="en-US" dirty="0">
              <a:latin typeface="Times New Roman" panose="02020603050405020304" pitchFamily="18" charset="0"/>
              <a:cs typeface="Times New Roman" panose="02020603050405020304" pitchFamily="18" charset="0"/>
            </a:endParaRPr>
          </a:p>
          <a:p>
            <a:pPr marL="685800" lvl="1">
              <a:buFont typeface="Wingdings" panose="05000000000000000000" pitchFamily="2" charset="2"/>
              <a:buChar char="§"/>
            </a:pPr>
            <a:r>
              <a:rPr lang="en-US" sz="1800" dirty="0">
                <a:latin typeface="Times New Roman" panose="02020603050405020304" pitchFamily="18" charset="0"/>
                <a:cs typeface="Times New Roman" panose="02020603050405020304" pitchFamily="18" charset="0"/>
              </a:rPr>
              <a:t>Focuses on predicting </a:t>
            </a:r>
            <a:r>
              <a:rPr lang="en-US" sz="1800" b="1" dirty="0">
                <a:latin typeface="Times New Roman" panose="02020603050405020304" pitchFamily="18" charset="0"/>
                <a:cs typeface="Times New Roman" panose="02020603050405020304" pitchFamily="18" charset="0"/>
              </a:rPr>
              <a:t>PIRA (relapse-independent disability progression)</a:t>
            </a:r>
            <a:r>
              <a:rPr lang="en-US" sz="1800" dirty="0">
                <a:latin typeface="Times New Roman" panose="02020603050405020304" pitchFamily="18" charset="0"/>
                <a:cs typeface="Times New Roman" panose="02020603050405020304" pitchFamily="18" charset="0"/>
              </a:rPr>
              <a:t> </a:t>
            </a:r>
          </a:p>
          <a:p>
            <a:pPr marL="685800" lvl="1">
              <a:buFont typeface="Wingdings" panose="05000000000000000000" pitchFamily="2" charset="2"/>
              <a:buChar char="§"/>
            </a:pPr>
            <a:r>
              <a:rPr lang="en-US" sz="1800" dirty="0">
                <a:latin typeface="Times New Roman" panose="02020603050405020304" pitchFamily="18" charset="0"/>
                <a:cs typeface="Times New Roman" panose="02020603050405020304" pitchFamily="18" charset="0"/>
              </a:rPr>
              <a:t>Uses clinical and MRI-based features with ML models </a:t>
            </a:r>
          </a:p>
          <a:p>
            <a:r>
              <a:rPr lang="en-US" b="1" dirty="0">
                <a:latin typeface="Times New Roman" panose="02020603050405020304" pitchFamily="18" charset="0"/>
                <a:cs typeface="Times New Roman" panose="02020603050405020304" pitchFamily="18" charset="0"/>
              </a:rPr>
              <a:t>(2024)</a:t>
            </a:r>
            <a:r>
              <a:rPr lang="en-US" dirty="0">
                <a:latin typeface="Times New Roman" panose="02020603050405020304" pitchFamily="18" charset="0"/>
                <a:cs typeface="Times New Roman" panose="02020603050405020304" pitchFamily="18" charset="0"/>
              </a:rPr>
              <a:t> </a:t>
            </a:r>
            <a:r>
              <a:rPr lang="en-US" sz="1900" b="1" dirty="0">
                <a:latin typeface="Times New Roman" panose="02020603050405020304" pitchFamily="18" charset="0"/>
                <a:cs typeface="Times New Roman" panose="02020603050405020304" pitchFamily="18" charset="0"/>
              </a:rPr>
              <a:t>Title:</a:t>
            </a:r>
            <a:r>
              <a:rPr lang="en-US" sz="1900" dirty="0">
                <a:latin typeface="Times New Roman" panose="02020603050405020304" pitchFamily="18" charset="0"/>
                <a:cs typeface="Times New Roman" panose="02020603050405020304" pitchFamily="18" charset="0"/>
              </a:rPr>
              <a:t> Predictors of Short-Term, Relapse-Independent Disease Progression in Multiple Sclerosis Using Machine Learning</a:t>
            </a:r>
            <a:br>
              <a:rPr lang="en-US" sz="1900" dirty="0">
                <a:latin typeface="Times New Roman" panose="02020603050405020304" pitchFamily="18" charset="0"/>
                <a:cs typeface="Times New Roman" panose="02020603050405020304" pitchFamily="18" charset="0"/>
              </a:rPr>
            </a:br>
            <a:r>
              <a:rPr lang="en-US" sz="1900" b="1" dirty="0">
                <a:latin typeface="Times New Roman" panose="02020603050405020304" pitchFamily="18" charset="0"/>
                <a:cs typeface="Times New Roman" panose="02020603050405020304" pitchFamily="18" charset="0"/>
              </a:rPr>
              <a:t>Authors:</a:t>
            </a:r>
            <a:r>
              <a:rPr lang="en-US" sz="1900" dirty="0">
                <a:latin typeface="Times New Roman" panose="02020603050405020304" pitchFamily="18" charset="0"/>
                <a:cs typeface="Times New Roman" panose="02020603050405020304" pitchFamily="18" charset="0"/>
              </a:rPr>
              <a:t> Pérez-Miralles et al.</a:t>
            </a:r>
            <a:br>
              <a:rPr lang="en-US" dirty="0">
                <a:latin typeface="Times New Roman" panose="02020603050405020304" pitchFamily="18" charset="0"/>
                <a:cs typeface="Times New Roman" panose="02020603050405020304" pitchFamily="18" charset="0"/>
              </a:rPr>
            </a:br>
            <a:r>
              <a:rPr lang="en-US" b="1" dirty="0">
                <a:latin typeface="Times New Roman" panose="02020603050405020304" pitchFamily="18" charset="0"/>
                <a:cs typeface="Times New Roman" panose="02020603050405020304" pitchFamily="18" charset="0"/>
              </a:rPr>
              <a:t>Link:</a:t>
            </a:r>
            <a:r>
              <a:rPr lang="en-US" dirty="0">
                <a:latin typeface="Times New Roman" panose="02020603050405020304" pitchFamily="18" charset="0"/>
                <a:cs typeface="Times New Roman" panose="02020603050405020304" pitchFamily="18" charset="0"/>
              </a:rPr>
              <a:t> </a:t>
            </a:r>
            <a:r>
              <a:rPr lang="en-US" dirty="0">
                <a:latin typeface="Times New Roman" panose="02020603050405020304" pitchFamily="18" charset="0"/>
                <a:cs typeface="Times New Roman" panose="02020603050405020304" pitchFamily="18" charset="0"/>
                <a:hlinkClick r:id="rId3"/>
              </a:rPr>
              <a:t>https://www.sciencedirect.com/science/article/pii/S0022510X26001280</a:t>
            </a:r>
            <a:endParaRPr lang="en-US" dirty="0">
              <a:latin typeface="Times New Roman" panose="02020603050405020304" pitchFamily="18" charset="0"/>
              <a:cs typeface="Times New Roman" panose="02020603050405020304" pitchFamily="18" charset="0"/>
            </a:endParaRPr>
          </a:p>
          <a:p>
            <a:pPr lvl="1">
              <a:buFont typeface="Wingdings" panose="05000000000000000000" pitchFamily="2" charset="2"/>
              <a:buChar char="§"/>
            </a:pPr>
            <a:r>
              <a:rPr lang="en-US" sz="1800" dirty="0">
                <a:latin typeface="Times New Roman" panose="02020603050405020304" pitchFamily="18" charset="0"/>
                <a:cs typeface="Times New Roman" panose="02020603050405020304" pitchFamily="18" charset="0"/>
              </a:rPr>
              <a:t>Predicts short-term </a:t>
            </a:r>
            <a:r>
              <a:rPr lang="en-US" sz="1800" b="1" dirty="0">
                <a:latin typeface="Times New Roman" panose="02020603050405020304" pitchFamily="18" charset="0"/>
                <a:cs typeface="Times New Roman" panose="02020603050405020304" pitchFamily="18" charset="0"/>
              </a:rPr>
              <a:t>PIRA risk (24–36 months)</a:t>
            </a:r>
            <a:r>
              <a:rPr lang="en-US" sz="1800" dirty="0">
                <a:latin typeface="Times New Roman" panose="02020603050405020304" pitchFamily="18" charset="0"/>
                <a:cs typeface="Times New Roman" panose="02020603050405020304" pitchFamily="18" charset="0"/>
              </a:rPr>
              <a:t> </a:t>
            </a:r>
          </a:p>
          <a:p>
            <a:pPr lvl="1">
              <a:buFont typeface="Wingdings" panose="05000000000000000000" pitchFamily="2" charset="2"/>
              <a:buChar char="§"/>
            </a:pPr>
            <a:r>
              <a:rPr lang="en-US" sz="1800" dirty="0">
                <a:latin typeface="Times New Roman" panose="02020603050405020304" pitchFamily="18" charset="0"/>
                <a:cs typeface="Times New Roman" panose="02020603050405020304" pitchFamily="18" charset="0"/>
              </a:rPr>
              <a:t>Uses clinical + MRI features</a:t>
            </a:r>
          </a:p>
          <a:p>
            <a:pPr marL="0" indent="0" algn="just">
              <a:buNone/>
            </a:pPr>
            <a:r>
              <a:rPr lang="en-US" b="1" dirty="0">
                <a:solidFill>
                  <a:schemeClr val="accent1"/>
                </a:solidFill>
                <a:latin typeface="Times New Roman" panose="02020603050405020304" pitchFamily="18" charset="0"/>
                <a:cs typeface="Times New Roman" panose="02020603050405020304" pitchFamily="18" charset="0"/>
              </a:rPr>
              <a:t>Research Gap</a:t>
            </a:r>
          </a:p>
          <a:p>
            <a:pPr algn="just"/>
            <a:r>
              <a:rPr lang="en-US" dirty="0">
                <a:latin typeface="Times New Roman" panose="02020603050405020304" pitchFamily="18" charset="0"/>
                <a:cs typeface="Times New Roman" panose="02020603050405020304" pitchFamily="18" charset="0"/>
              </a:rPr>
              <a:t>Limited focus on Explainable AI (XAI) in existing models </a:t>
            </a:r>
          </a:p>
          <a:p>
            <a:pPr algn="just"/>
            <a:r>
              <a:rPr lang="en-US" dirty="0">
                <a:latin typeface="Times New Roman" panose="02020603050405020304" pitchFamily="18" charset="0"/>
                <a:cs typeface="Times New Roman" panose="02020603050405020304" pitchFamily="18" charset="0"/>
              </a:rPr>
              <a:t>Lack of actionable insights for clinical improvement </a:t>
            </a:r>
          </a:p>
          <a:p>
            <a:pPr algn="just"/>
            <a:r>
              <a:rPr lang="en-US" dirty="0">
                <a:latin typeface="Times New Roman" panose="02020603050405020304" pitchFamily="18" charset="0"/>
                <a:cs typeface="Times New Roman" panose="02020603050405020304" pitchFamily="18" charset="0"/>
              </a:rPr>
              <a:t>Need for personalized and interpretable predictions</a:t>
            </a:r>
          </a:p>
          <a:p>
            <a:pPr algn="just"/>
            <a:endParaRPr lang="en-IN" dirty="0">
              <a:latin typeface="Times New Roman" panose="02020603050405020304" pitchFamily="18" charset="0"/>
              <a:cs typeface="Times New Roman" panose="02020603050405020304" pitchFamily="18" charset="0"/>
            </a:endParaRPr>
          </a:p>
        </p:txBody>
      </p:sp>
      <p:pic>
        <p:nvPicPr>
          <p:cNvPr id="4" name="Picture 3">
            <a:extLst>
              <a:ext uri="{FF2B5EF4-FFF2-40B4-BE49-F238E27FC236}">
                <a16:creationId xmlns:a16="http://schemas.microsoft.com/office/drawing/2014/main" id="{E96023D0-3B58-8269-5E37-30B3366B421B}"/>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0196052" y="298147"/>
            <a:ext cx="1526020" cy="1776017"/>
          </a:xfrm>
          <a:prstGeom prst="rect">
            <a:avLst/>
          </a:prstGeom>
        </p:spPr>
      </p:pic>
      <p:sp>
        <p:nvSpPr>
          <p:cNvPr id="5" name="TextBox 4">
            <a:extLst>
              <a:ext uri="{FF2B5EF4-FFF2-40B4-BE49-F238E27FC236}">
                <a16:creationId xmlns:a16="http://schemas.microsoft.com/office/drawing/2014/main" id="{C9DDDF28-30CF-000C-C84E-DB0AB0B77A85}"/>
              </a:ext>
            </a:extLst>
          </p:cNvPr>
          <p:cNvSpPr txBox="1"/>
          <p:nvPr/>
        </p:nvSpPr>
        <p:spPr>
          <a:xfrm>
            <a:off x="11531242" y="6518165"/>
            <a:ext cx="660758" cy="369332"/>
          </a:xfrm>
          <a:prstGeom prst="rect">
            <a:avLst/>
          </a:prstGeom>
          <a:noFill/>
        </p:spPr>
        <p:txBody>
          <a:bodyPr wrap="none" rtlCol="0">
            <a:spAutoFit/>
          </a:bodyPr>
          <a:lstStyle/>
          <a:p>
            <a:r>
              <a:rPr lang="en-US" dirty="0">
                <a:solidFill>
                  <a:schemeClr val="accent5">
                    <a:lumMod val="50000"/>
                  </a:schemeClr>
                </a:solidFill>
              </a:rPr>
              <a:t>Atha</a:t>
            </a:r>
            <a:endParaRPr lang="en-IN" dirty="0">
              <a:solidFill>
                <a:schemeClr val="accent5">
                  <a:lumMod val="50000"/>
                </a:schemeClr>
              </a:solidFill>
            </a:endParaRPr>
          </a:p>
        </p:txBody>
      </p:sp>
    </p:spTree>
    <p:extLst>
      <p:ext uri="{BB962C8B-B14F-4D97-AF65-F5344CB8AC3E}">
        <p14:creationId xmlns:p14="http://schemas.microsoft.com/office/powerpoint/2010/main" val="3460526466"/>
      </p:ext>
    </p:extLst>
  </p:cSld>
  <p:clrMapOvr>
    <a:masterClrMapping/>
  </p:clrMapOvr>
  <mc:AlternateContent xmlns:mc="http://schemas.openxmlformats.org/markup-compatibility/2006" xmlns:p14="http://schemas.microsoft.com/office/powerpoint/2010/main">
    <mc:Choice Requires="p14">
      <p:transition spd="slow" p14:dur="800">
        <p14:flythrough/>
      </p:transition>
    </mc:Choice>
    <mc:Fallback xmlns="">
      <p:transition spd="slow">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EFDB08-02FB-CBE7-B8CE-E9E452796E27}"/>
              </a:ext>
            </a:extLst>
          </p:cNvPr>
          <p:cNvSpPr>
            <a:spLocks noGrp="1"/>
          </p:cNvSpPr>
          <p:nvPr>
            <p:ph type="title"/>
          </p:nvPr>
        </p:nvSpPr>
        <p:spPr/>
        <p:txBody>
          <a:bodyPr/>
          <a:lstStyle/>
          <a:p>
            <a:pPr algn="ctr"/>
            <a:r>
              <a:rPr lang="en-US" dirty="0">
                <a:latin typeface="Times New Roman" panose="02020603050405020304" pitchFamily="18" charset="0"/>
                <a:cs typeface="Times New Roman" panose="02020603050405020304" pitchFamily="18" charset="0"/>
              </a:rPr>
              <a:t>4. Existing System</a:t>
            </a:r>
            <a:endParaRPr lang="en-IN" dirty="0">
              <a:latin typeface="Times New Roman" panose="02020603050405020304" pitchFamily="18" charset="0"/>
              <a:cs typeface="Times New Roman" panose="02020603050405020304" pitchFamily="18" charset="0"/>
            </a:endParaRPr>
          </a:p>
        </p:txBody>
      </p:sp>
      <p:pic>
        <p:nvPicPr>
          <p:cNvPr id="4" name="Picture 3">
            <a:extLst>
              <a:ext uri="{FF2B5EF4-FFF2-40B4-BE49-F238E27FC236}">
                <a16:creationId xmlns:a16="http://schemas.microsoft.com/office/drawing/2014/main" id="{6FFCA4B5-EBA7-F1E7-30A1-E0D2BEFD2A9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196052" y="288315"/>
            <a:ext cx="1526020" cy="1776017"/>
          </a:xfrm>
          <a:prstGeom prst="rect">
            <a:avLst/>
          </a:prstGeom>
        </p:spPr>
      </p:pic>
      <p:sp>
        <p:nvSpPr>
          <p:cNvPr id="5" name="TextBox 4">
            <a:extLst>
              <a:ext uri="{FF2B5EF4-FFF2-40B4-BE49-F238E27FC236}">
                <a16:creationId xmlns:a16="http://schemas.microsoft.com/office/drawing/2014/main" id="{F492D6B3-FE44-71E8-4828-BA3B4ED65537}"/>
              </a:ext>
            </a:extLst>
          </p:cNvPr>
          <p:cNvSpPr txBox="1"/>
          <p:nvPr/>
        </p:nvSpPr>
        <p:spPr>
          <a:xfrm>
            <a:off x="11231688" y="6569685"/>
            <a:ext cx="980768" cy="369332"/>
          </a:xfrm>
          <a:prstGeom prst="rect">
            <a:avLst/>
          </a:prstGeom>
          <a:noFill/>
        </p:spPr>
        <p:txBody>
          <a:bodyPr wrap="square">
            <a:spAutoFit/>
          </a:bodyPr>
          <a:lstStyle/>
          <a:p>
            <a:r>
              <a:rPr lang="en-US" dirty="0">
                <a:solidFill>
                  <a:schemeClr val="accent5">
                    <a:lumMod val="50000"/>
                  </a:schemeClr>
                </a:solidFill>
              </a:rPr>
              <a:t>Mustafa</a:t>
            </a:r>
            <a:endParaRPr lang="en-IN" dirty="0">
              <a:solidFill>
                <a:schemeClr val="accent5">
                  <a:lumMod val="50000"/>
                </a:schemeClr>
              </a:solidFill>
            </a:endParaRPr>
          </a:p>
        </p:txBody>
      </p:sp>
      <p:pic>
        <p:nvPicPr>
          <p:cNvPr id="14" name="Content Placeholder 13">
            <a:extLst>
              <a:ext uri="{FF2B5EF4-FFF2-40B4-BE49-F238E27FC236}">
                <a16:creationId xmlns:a16="http://schemas.microsoft.com/office/drawing/2014/main" id="{66CC3E98-C152-7C2B-ED64-1FF3C6A6B069}"/>
              </a:ext>
            </a:extLst>
          </p:cNvPr>
          <p:cNvPicPr>
            <a:picLocks noGrp="1" noChangeAspect="1"/>
          </p:cNvPicPr>
          <p:nvPr>
            <p:ph idx="1"/>
          </p:nvPr>
        </p:nvPicPr>
        <p:blipFill>
          <a:blip r:embed="rId3"/>
          <a:srcRect t="6628" b="7635"/>
          <a:stretch>
            <a:fillRect/>
          </a:stretch>
        </p:blipFill>
        <p:spPr>
          <a:xfrm>
            <a:off x="2052758" y="1822246"/>
            <a:ext cx="6356004" cy="4185266"/>
          </a:xfrm>
          <a:prstGeom prst="rect">
            <a:avLst/>
          </a:prstGeom>
        </p:spPr>
      </p:pic>
    </p:spTree>
    <p:extLst>
      <p:ext uri="{BB962C8B-B14F-4D97-AF65-F5344CB8AC3E}">
        <p14:creationId xmlns:p14="http://schemas.microsoft.com/office/powerpoint/2010/main" val="1602517645"/>
      </p:ext>
    </p:extLst>
  </p:cSld>
  <p:clrMapOvr>
    <a:masterClrMapping/>
  </p:clrMapOvr>
  <mc:AlternateContent xmlns:mc="http://schemas.openxmlformats.org/markup-compatibility/2006" xmlns:p14="http://schemas.microsoft.com/office/powerpoint/2010/main">
    <mc:Choice Requires="p14">
      <p:transition spd="slow" p14:dur="800">
        <p14:flythrough/>
      </p:transition>
    </mc:Choice>
    <mc:Fallback xmlns="">
      <p:transition spd="slow">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CA1586-0142-2608-8D11-2A35B3232285}"/>
              </a:ext>
            </a:extLst>
          </p:cNvPr>
          <p:cNvSpPr>
            <a:spLocks noGrp="1"/>
          </p:cNvSpPr>
          <p:nvPr>
            <p:ph type="title"/>
          </p:nvPr>
        </p:nvSpPr>
        <p:spPr/>
        <p:txBody>
          <a:bodyPr/>
          <a:lstStyle/>
          <a:p>
            <a:pPr algn="ctr"/>
            <a:r>
              <a:rPr lang="en-US" dirty="0">
                <a:latin typeface="Times New Roman" panose="02020603050405020304" pitchFamily="18" charset="0"/>
                <a:cs typeface="Times New Roman" panose="02020603050405020304" pitchFamily="18" charset="0"/>
              </a:rPr>
              <a:t>4.1. Limitations of Existing System</a:t>
            </a:r>
            <a:endParaRPr lang="en-IN" dirty="0">
              <a:latin typeface="Times New Roman" panose="02020603050405020304" pitchFamily="18" charset="0"/>
              <a:cs typeface="Times New Roman" panose="02020603050405020304" pitchFamily="18" charset="0"/>
            </a:endParaRPr>
          </a:p>
        </p:txBody>
      </p:sp>
      <p:pic>
        <p:nvPicPr>
          <p:cNvPr id="4" name="Picture 3">
            <a:extLst>
              <a:ext uri="{FF2B5EF4-FFF2-40B4-BE49-F238E27FC236}">
                <a16:creationId xmlns:a16="http://schemas.microsoft.com/office/drawing/2014/main" id="{97E6E66B-6DC2-FB72-1E17-711905423B5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196052" y="288315"/>
            <a:ext cx="1526020" cy="1776017"/>
          </a:xfrm>
          <a:prstGeom prst="rect">
            <a:avLst/>
          </a:prstGeom>
        </p:spPr>
      </p:pic>
      <p:pic>
        <p:nvPicPr>
          <p:cNvPr id="11" name="Content Placeholder 10">
            <a:extLst>
              <a:ext uri="{FF2B5EF4-FFF2-40B4-BE49-F238E27FC236}">
                <a16:creationId xmlns:a16="http://schemas.microsoft.com/office/drawing/2014/main" id="{17029C15-1BD4-2C08-1B2B-9EF18513E07B}"/>
              </a:ext>
            </a:extLst>
          </p:cNvPr>
          <p:cNvPicPr>
            <a:picLocks noGrp="1" noChangeAspect="1"/>
          </p:cNvPicPr>
          <p:nvPr>
            <p:ph idx="1"/>
          </p:nvPr>
        </p:nvPicPr>
        <p:blipFill>
          <a:blip r:embed="rId3"/>
          <a:stretch>
            <a:fillRect/>
          </a:stretch>
        </p:blipFill>
        <p:spPr>
          <a:xfrm>
            <a:off x="2592198" y="1484852"/>
            <a:ext cx="5125673" cy="4557174"/>
          </a:xfrm>
          <a:prstGeom prst="rect">
            <a:avLst/>
          </a:prstGeom>
        </p:spPr>
      </p:pic>
      <p:sp>
        <p:nvSpPr>
          <p:cNvPr id="5" name="TextBox 4">
            <a:extLst>
              <a:ext uri="{FF2B5EF4-FFF2-40B4-BE49-F238E27FC236}">
                <a16:creationId xmlns:a16="http://schemas.microsoft.com/office/drawing/2014/main" id="{BAA1D36D-5BF1-EF7C-3507-1664E2D400D0}"/>
              </a:ext>
            </a:extLst>
          </p:cNvPr>
          <p:cNvSpPr txBox="1"/>
          <p:nvPr/>
        </p:nvSpPr>
        <p:spPr>
          <a:xfrm>
            <a:off x="11187443" y="6569685"/>
            <a:ext cx="1069258" cy="369332"/>
          </a:xfrm>
          <a:prstGeom prst="rect">
            <a:avLst/>
          </a:prstGeom>
          <a:noFill/>
        </p:spPr>
        <p:txBody>
          <a:bodyPr wrap="square">
            <a:spAutoFit/>
          </a:bodyPr>
          <a:lstStyle/>
          <a:p>
            <a:r>
              <a:rPr lang="en-US" dirty="0">
                <a:solidFill>
                  <a:schemeClr val="accent5">
                    <a:lumMod val="50000"/>
                  </a:schemeClr>
                </a:solidFill>
              </a:rPr>
              <a:t>Mustafa</a:t>
            </a:r>
            <a:endParaRPr lang="en-IN" dirty="0">
              <a:solidFill>
                <a:schemeClr val="accent5">
                  <a:lumMod val="50000"/>
                </a:schemeClr>
              </a:solidFill>
            </a:endParaRPr>
          </a:p>
        </p:txBody>
      </p:sp>
    </p:spTree>
    <p:extLst>
      <p:ext uri="{BB962C8B-B14F-4D97-AF65-F5344CB8AC3E}">
        <p14:creationId xmlns:p14="http://schemas.microsoft.com/office/powerpoint/2010/main" val="3916277306"/>
      </p:ext>
    </p:extLst>
  </p:cSld>
  <p:clrMapOvr>
    <a:masterClrMapping/>
  </p:clrMapOvr>
  <mc:AlternateContent xmlns:mc="http://schemas.openxmlformats.org/markup-compatibility/2006" xmlns:p14="http://schemas.microsoft.com/office/powerpoint/2010/main">
    <mc:Choice Requires="p14">
      <p:transition spd="slow" p14:dur="800">
        <p14:flythrough/>
      </p:transition>
    </mc:Choice>
    <mc:Fallback xmlns="">
      <p:transition spd="slow">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482E5C-AF7A-9852-57A3-F10297570673}"/>
              </a:ext>
            </a:extLst>
          </p:cNvPr>
          <p:cNvSpPr>
            <a:spLocks noGrp="1"/>
          </p:cNvSpPr>
          <p:nvPr>
            <p:ph type="title"/>
          </p:nvPr>
        </p:nvSpPr>
        <p:spPr/>
        <p:txBody>
          <a:bodyPr/>
          <a:lstStyle/>
          <a:p>
            <a:pPr algn="ctr"/>
            <a:r>
              <a:rPr lang="en-US" dirty="0">
                <a:latin typeface="Times New Roman" panose="02020603050405020304" pitchFamily="18" charset="0"/>
                <a:cs typeface="Times New Roman" panose="02020603050405020304" pitchFamily="18" charset="0"/>
              </a:rPr>
              <a:t>5. Proposed System</a:t>
            </a:r>
            <a:endParaRPr lang="en-IN" dirty="0">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7CEC4BA5-6449-389B-D885-6F6C1401F666}"/>
              </a:ext>
            </a:extLst>
          </p:cNvPr>
          <p:cNvSpPr>
            <a:spLocks noGrp="1"/>
          </p:cNvSpPr>
          <p:nvPr>
            <p:ph idx="1"/>
          </p:nvPr>
        </p:nvSpPr>
        <p:spPr>
          <a:xfrm>
            <a:off x="677334" y="2323750"/>
            <a:ext cx="8596668" cy="3717612"/>
          </a:xfrm>
        </p:spPr>
        <p:txBody>
          <a:bodyPr>
            <a:normAutofit/>
          </a:bodyPr>
          <a:lstStyle/>
          <a:p>
            <a:pPr algn="just"/>
            <a:r>
              <a:rPr lang="en-US" sz="2400" dirty="0">
                <a:latin typeface="Times New Roman" panose="02020603050405020304" pitchFamily="18" charset="0"/>
                <a:cs typeface="Times New Roman" panose="02020603050405020304" pitchFamily="18" charset="0"/>
              </a:rPr>
              <a:t>An intelligent classification system that automatically identifies distinct MS subtypes using advanced Machine Learning models.</a:t>
            </a:r>
          </a:p>
          <a:p>
            <a:pPr algn="just"/>
            <a:r>
              <a:rPr lang="en-US" sz="2400" dirty="0">
                <a:latin typeface="Times New Roman" panose="02020603050405020304" pitchFamily="18" charset="0"/>
                <a:cs typeface="Times New Roman" panose="02020603050405020304" pitchFamily="18" charset="0"/>
              </a:rPr>
              <a:t>Integrates Explainable AI (XAI) techniques such as SHAP to clearly interpret and justify model predictions.</a:t>
            </a:r>
          </a:p>
          <a:p>
            <a:pPr algn="just"/>
            <a:r>
              <a:rPr lang="en-US" sz="2400" dirty="0">
                <a:latin typeface="Times New Roman" panose="02020603050405020304" pitchFamily="18" charset="0"/>
                <a:cs typeface="Times New Roman" panose="02020603050405020304" pitchFamily="18" charset="0"/>
              </a:rPr>
              <a:t>Utilizes DiCE (Diverse Counterfactual Explanations) to provide actionable insights by suggesting changes in clinical features that could alter the predicted outcome.</a:t>
            </a:r>
            <a:endParaRPr lang="en-IN" sz="2400" dirty="0">
              <a:latin typeface="Times New Roman" panose="02020603050405020304" pitchFamily="18" charset="0"/>
              <a:cs typeface="Times New Roman" panose="02020603050405020304" pitchFamily="18" charset="0"/>
            </a:endParaRPr>
          </a:p>
        </p:txBody>
      </p:sp>
      <p:pic>
        <p:nvPicPr>
          <p:cNvPr id="4" name="Picture 3">
            <a:extLst>
              <a:ext uri="{FF2B5EF4-FFF2-40B4-BE49-F238E27FC236}">
                <a16:creationId xmlns:a16="http://schemas.microsoft.com/office/drawing/2014/main" id="{9D3ABD72-588F-7F61-1ECF-28D1DE7A701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196052" y="288315"/>
            <a:ext cx="1526020" cy="1776017"/>
          </a:xfrm>
          <a:prstGeom prst="rect">
            <a:avLst/>
          </a:prstGeom>
        </p:spPr>
      </p:pic>
      <p:sp>
        <p:nvSpPr>
          <p:cNvPr id="5" name="TextBox 4">
            <a:extLst>
              <a:ext uri="{FF2B5EF4-FFF2-40B4-BE49-F238E27FC236}">
                <a16:creationId xmlns:a16="http://schemas.microsoft.com/office/drawing/2014/main" id="{701F8795-DBD3-67D9-780B-813870A56BDF}"/>
              </a:ext>
            </a:extLst>
          </p:cNvPr>
          <p:cNvSpPr txBox="1"/>
          <p:nvPr/>
        </p:nvSpPr>
        <p:spPr>
          <a:xfrm>
            <a:off x="11159613" y="6587613"/>
            <a:ext cx="660758" cy="369332"/>
          </a:xfrm>
          <a:prstGeom prst="rect">
            <a:avLst/>
          </a:prstGeom>
          <a:noFill/>
        </p:spPr>
        <p:txBody>
          <a:bodyPr wrap="none" rtlCol="0">
            <a:spAutoFit/>
          </a:bodyPr>
          <a:lstStyle/>
          <a:p>
            <a:r>
              <a:rPr lang="en-US" dirty="0">
                <a:solidFill>
                  <a:schemeClr val="accent5">
                    <a:lumMod val="50000"/>
                  </a:schemeClr>
                </a:solidFill>
              </a:rPr>
              <a:t>Atha</a:t>
            </a:r>
            <a:endParaRPr lang="en-IN" dirty="0">
              <a:solidFill>
                <a:schemeClr val="accent5">
                  <a:lumMod val="50000"/>
                </a:schemeClr>
              </a:solidFill>
            </a:endParaRPr>
          </a:p>
        </p:txBody>
      </p:sp>
    </p:spTree>
    <p:extLst>
      <p:ext uri="{BB962C8B-B14F-4D97-AF65-F5344CB8AC3E}">
        <p14:creationId xmlns:p14="http://schemas.microsoft.com/office/powerpoint/2010/main" val="1558723243"/>
      </p:ext>
    </p:extLst>
  </p:cSld>
  <p:clrMapOvr>
    <a:masterClrMapping/>
  </p:clrMapOvr>
  <mc:AlternateContent xmlns:mc="http://schemas.openxmlformats.org/markup-compatibility/2006" xmlns:p14="http://schemas.microsoft.com/office/powerpoint/2010/main">
    <mc:Choice Requires="p14">
      <p:transition spd="slow" p14:dur="800">
        <p14:flythrough/>
      </p:transition>
    </mc:Choice>
    <mc:Fallback xmlns="">
      <p:transition spd="slow">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8E3E87-04EE-F994-17EF-639A60B1D099}"/>
              </a:ext>
            </a:extLst>
          </p:cNvPr>
          <p:cNvSpPr>
            <a:spLocks noGrp="1"/>
          </p:cNvSpPr>
          <p:nvPr>
            <p:ph type="title"/>
          </p:nvPr>
        </p:nvSpPr>
        <p:spPr/>
        <p:txBody>
          <a:bodyPr/>
          <a:lstStyle/>
          <a:p>
            <a:pPr algn="ctr"/>
            <a:r>
              <a:rPr lang="en-US" dirty="0">
                <a:latin typeface="Times New Roman" panose="02020603050405020304" pitchFamily="18" charset="0"/>
                <a:cs typeface="Times New Roman" panose="02020603050405020304" pitchFamily="18" charset="0"/>
              </a:rPr>
              <a:t>5.1.  Problem Statement</a:t>
            </a:r>
            <a:endParaRPr lang="en-IN" dirty="0">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A1C0EA9D-B89E-6627-3121-D843892BE458}"/>
              </a:ext>
            </a:extLst>
          </p:cNvPr>
          <p:cNvSpPr>
            <a:spLocks noGrp="1"/>
          </p:cNvSpPr>
          <p:nvPr>
            <p:ph idx="1"/>
          </p:nvPr>
        </p:nvSpPr>
        <p:spPr>
          <a:xfrm>
            <a:off x="677334" y="2306972"/>
            <a:ext cx="8596668" cy="3734390"/>
          </a:xfrm>
        </p:spPr>
        <p:txBody>
          <a:bodyPr>
            <a:normAutofit/>
          </a:bodyPr>
          <a:lstStyle/>
          <a:p>
            <a:pPr lvl="1"/>
            <a:r>
              <a:rPr lang="en-US" sz="2400" dirty="0">
                <a:latin typeface="Times New Roman" panose="02020603050405020304" pitchFamily="18" charset="0"/>
                <a:cs typeface="Times New Roman" panose="02020603050405020304" pitchFamily="18" charset="0"/>
              </a:rPr>
              <a:t>Accurately classifying Multiple Sclerosis (MS) subtypes based on complex clinical and demographic data remains a challenging task due to subtle variations and overlapping patterns.</a:t>
            </a:r>
          </a:p>
          <a:p>
            <a:pPr lvl="1"/>
            <a:r>
              <a:rPr lang="en-US" sz="2400" dirty="0">
                <a:latin typeface="Times New Roman" panose="02020603050405020304" pitchFamily="18" charset="0"/>
                <a:cs typeface="Times New Roman" panose="02020603050405020304" pitchFamily="18" charset="0"/>
              </a:rPr>
              <a:t>There is a vital need for a transparent and interpretable automated system that supports clinicians by providing clear explanations, rather than functioning as a “black-box” model.</a:t>
            </a:r>
            <a:endParaRPr lang="en-IN" sz="2000" dirty="0">
              <a:latin typeface="Times New Roman" panose="02020603050405020304" pitchFamily="18" charset="0"/>
              <a:cs typeface="Times New Roman" panose="02020603050405020304" pitchFamily="18" charset="0"/>
            </a:endParaRPr>
          </a:p>
        </p:txBody>
      </p:sp>
      <p:pic>
        <p:nvPicPr>
          <p:cNvPr id="4" name="Picture 3">
            <a:extLst>
              <a:ext uri="{FF2B5EF4-FFF2-40B4-BE49-F238E27FC236}">
                <a16:creationId xmlns:a16="http://schemas.microsoft.com/office/drawing/2014/main" id="{0A6F3957-1881-20D0-AC89-B79BB359758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196052" y="298147"/>
            <a:ext cx="1526020" cy="1776017"/>
          </a:xfrm>
          <a:prstGeom prst="rect">
            <a:avLst/>
          </a:prstGeom>
        </p:spPr>
      </p:pic>
      <p:sp>
        <p:nvSpPr>
          <p:cNvPr id="6" name="TextBox 5">
            <a:extLst>
              <a:ext uri="{FF2B5EF4-FFF2-40B4-BE49-F238E27FC236}">
                <a16:creationId xmlns:a16="http://schemas.microsoft.com/office/drawing/2014/main" id="{3C984B12-79AF-C522-F745-AFF9A991A844}"/>
              </a:ext>
            </a:extLst>
          </p:cNvPr>
          <p:cNvSpPr txBox="1"/>
          <p:nvPr/>
        </p:nvSpPr>
        <p:spPr>
          <a:xfrm>
            <a:off x="11565193" y="6559853"/>
            <a:ext cx="902110" cy="369332"/>
          </a:xfrm>
          <a:prstGeom prst="rect">
            <a:avLst/>
          </a:prstGeom>
          <a:noFill/>
        </p:spPr>
        <p:txBody>
          <a:bodyPr wrap="square">
            <a:spAutoFit/>
          </a:bodyPr>
          <a:lstStyle/>
          <a:p>
            <a:r>
              <a:rPr lang="en-US" dirty="0">
                <a:solidFill>
                  <a:schemeClr val="accent5">
                    <a:lumMod val="50000"/>
                  </a:schemeClr>
                </a:solidFill>
              </a:rPr>
              <a:t>Atha</a:t>
            </a:r>
            <a:endParaRPr lang="en-IN" dirty="0"/>
          </a:p>
        </p:txBody>
      </p:sp>
    </p:spTree>
    <p:extLst>
      <p:ext uri="{BB962C8B-B14F-4D97-AF65-F5344CB8AC3E}">
        <p14:creationId xmlns:p14="http://schemas.microsoft.com/office/powerpoint/2010/main" val="1702209959"/>
      </p:ext>
    </p:extLst>
  </p:cSld>
  <p:clrMapOvr>
    <a:masterClrMapping/>
  </p:clrMapOvr>
  <mc:AlternateContent xmlns:mc="http://schemas.openxmlformats.org/markup-compatibility/2006" xmlns:p14="http://schemas.microsoft.com/office/powerpoint/2010/main">
    <mc:Choice Requires="p14">
      <p:transition spd="slow" p14:dur="800">
        <p14:flythrough/>
      </p:transition>
    </mc:Choice>
    <mc:Fallback xmlns="">
      <p:transition spd="slow">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32BB98-C568-5BB5-F212-6E5A1D5012E3}"/>
              </a:ext>
            </a:extLst>
          </p:cNvPr>
          <p:cNvSpPr>
            <a:spLocks noGrp="1"/>
          </p:cNvSpPr>
          <p:nvPr>
            <p:ph type="title"/>
          </p:nvPr>
        </p:nvSpPr>
        <p:spPr/>
        <p:txBody>
          <a:bodyPr/>
          <a:lstStyle/>
          <a:p>
            <a:pPr algn="ctr"/>
            <a:r>
              <a:rPr lang="en-US" dirty="0">
                <a:latin typeface="Times New Roman" panose="02020603050405020304" pitchFamily="18" charset="0"/>
                <a:cs typeface="Times New Roman" panose="02020603050405020304" pitchFamily="18" charset="0"/>
              </a:rPr>
              <a:t>5.2.  Objectives</a:t>
            </a:r>
            <a:endParaRPr lang="en-IN" dirty="0">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BA0FF76E-AF68-8185-EA1F-8A238B32DDF2}"/>
              </a:ext>
            </a:extLst>
          </p:cNvPr>
          <p:cNvSpPr>
            <a:spLocks noGrp="1"/>
          </p:cNvSpPr>
          <p:nvPr>
            <p:ph idx="1"/>
          </p:nvPr>
        </p:nvSpPr>
        <p:spPr/>
        <p:txBody>
          <a:bodyPr>
            <a:normAutofit/>
          </a:bodyPr>
          <a:lstStyle/>
          <a:p>
            <a:pPr algn="just"/>
            <a:r>
              <a:rPr lang="en-US" sz="2800" dirty="0">
                <a:latin typeface="Times New Roman" panose="02020603050405020304" pitchFamily="18" charset="0"/>
                <a:cs typeface="Times New Roman" panose="02020603050405020304" pitchFamily="18" charset="0"/>
              </a:rPr>
              <a:t>To build and evaluate high-performance multi-class ML models (like XGBoost and Random Forest) on clinical MS data.</a:t>
            </a:r>
          </a:p>
          <a:p>
            <a:pPr algn="just"/>
            <a:r>
              <a:rPr lang="en-US" sz="2800" dirty="0">
                <a:latin typeface="Times New Roman" panose="02020603050405020304" pitchFamily="18" charset="0"/>
                <a:cs typeface="Times New Roman" panose="02020603050405020304" pitchFamily="18" charset="0"/>
              </a:rPr>
              <a:t>To implement explainability tools that provide both global feature importance and actionable clinical insights.</a:t>
            </a:r>
          </a:p>
          <a:p>
            <a:pPr algn="just"/>
            <a:r>
              <a:rPr lang="en-US" sz="2800" dirty="0">
                <a:latin typeface="Times New Roman" panose="02020603050405020304" pitchFamily="18" charset="0"/>
                <a:cs typeface="Times New Roman" panose="02020603050405020304" pitchFamily="18" charset="0"/>
              </a:rPr>
              <a:t>To drastically reduce the diagnostic delay for patients requiring immediate subtype-specific therapies.</a:t>
            </a:r>
          </a:p>
          <a:p>
            <a:pPr algn="just"/>
            <a:endParaRPr lang="en-IN" sz="2800" dirty="0">
              <a:latin typeface="Times New Roman" panose="02020603050405020304" pitchFamily="18" charset="0"/>
              <a:cs typeface="Times New Roman" panose="02020603050405020304" pitchFamily="18" charset="0"/>
            </a:endParaRPr>
          </a:p>
        </p:txBody>
      </p:sp>
      <p:pic>
        <p:nvPicPr>
          <p:cNvPr id="4" name="Picture 3">
            <a:extLst>
              <a:ext uri="{FF2B5EF4-FFF2-40B4-BE49-F238E27FC236}">
                <a16:creationId xmlns:a16="http://schemas.microsoft.com/office/drawing/2014/main" id="{CBFFBFEC-CD74-7366-4358-0DD52D75496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196052" y="288315"/>
            <a:ext cx="1526020" cy="1776017"/>
          </a:xfrm>
          <a:prstGeom prst="rect">
            <a:avLst/>
          </a:prstGeom>
        </p:spPr>
      </p:pic>
      <p:sp>
        <p:nvSpPr>
          <p:cNvPr id="6" name="TextBox 5">
            <a:extLst>
              <a:ext uri="{FF2B5EF4-FFF2-40B4-BE49-F238E27FC236}">
                <a16:creationId xmlns:a16="http://schemas.microsoft.com/office/drawing/2014/main" id="{2606ECE1-1031-8CDB-58CD-CC7E60DED09D}"/>
              </a:ext>
            </a:extLst>
          </p:cNvPr>
          <p:cNvSpPr txBox="1"/>
          <p:nvPr/>
        </p:nvSpPr>
        <p:spPr>
          <a:xfrm>
            <a:off x="10959062" y="6488668"/>
            <a:ext cx="1354394" cy="369332"/>
          </a:xfrm>
          <a:prstGeom prst="rect">
            <a:avLst/>
          </a:prstGeom>
          <a:noFill/>
        </p:spPr>
        <p:txBody>
          <a:bodyPr wrap="square">
            <a:spAutoFit/>
          </a:bodyPr>
          <a:lstStyle/>
          <a:p>
            <a:pPr marL="0" algn="l" rtl="0" eaLnBrk="1" latinLnBrk="0" hangingPunct="1">
              <a:buNone/>
            </a:pPr>
            <a:r>
              <a:rPr lang="en-US" sz="1800" kern="1200" dirty="0">
                <a:solidFill>
                  <a:srgbClr val="6D6834"/>
                </a:solidFill>
                <a:effectLst/>
                <a:latin typeface="Trebuchet MS" panose="020B0603020202020204" pitchFamily="34" charset="0"/>
                <a:ea typeface="+mn-ea"/>
                <a:cs typeface="+mn-cs"/>
              </a:rPr>
              <a:t>Mustaqeem</a:t>
            </a:r>
            <a:endParaRPr lang="en-IN" dirty="0">
              <a:effectLst/>
            </a:endParaRPr>
          </a:p>
        </p:txBody>
      </p:sp>
    </p:spTree>
    <p:extLst>
      <p:ext uri="{BB962C8B-B14F-4D97-AF65-F5344CB8AC3E}">
        <p14:creationId xmlns:p14="http://schemas.microsoft.com/office/powerpoint/2010/main" val="2003881095"/>
      </p:ext>
    </p:extLst>
  </p:cSld>
  <p:clrMapOvr>
    <a:masterClrMapping/>
  </p:clrMapOvr>
  <mc:AlternateContent xmlns:mc="http://schemas.openxmlformats.org/markup-compatibility/2006" xmlns:p14="http://schemas.microsoft.com/office/powerpoint/2010/main">
    <mc:Choice Requires="p14">
      <p:transition spd="slow" p14:dur="800">
        <p14:flythrough/>
      </p:transition>
    </mc:Choice>
    <mc:Fallback xmlns="">
      <p:transition spd="slow">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A954A7-A518-561A-9E48-80F541A19B64}"/>
              </a:ext>
            </a:extLst>
          </p:cNvPr>
          <p:cNvSpPr>
            <a:spLocks noGrp="1"/>
          </p:cNvSpPr>
          <p:nvPr>
            <p:ph type="title"/>
          </p:nvPr>
        </p:nvSpPr>
        <p:spPr/>
        <p:txBody>
          <a:bodyPr/>
          <a:lstStyle/>
          <a:p>
            <a:pPr algn="ctr"/>
            <a:r>
              <a:rPr lang="en-US" dirty="0"/>
              <a:t>5.3.  Advantages of Proposed System</a:t>
            </a:r>
            <a:endParaRPr lang="en-IN" dirty="0"/>
          </a:p>
        </p:txBody>
      </p:sp>
      <p:pic>
        <p:nvPicPr>
          <p:cNvPr id="6" name="Content Placeholder 5">
            <a:extLst>
              <a:ext uri="{FF2B5EF4-FFF2-40B4-BE49-F238E27FC236}">
                <a16:creationId xmlns:a16="http://schemas.microsoft.com/office/drawing/2014/main" id="{70180A90-8BA6-E899-1621-E45C404105F6}"/>
              </a:ext>
            </a:extLst>
          </p:cNvPr>
          <p:cNvPicPr>
            <a:picLocks noGrp="1" noChangeAspect="1"/>
          </p:cNvPicPr>
          <p:nvPr>
            <p:ph idx="1"/>
          </p:nvPr>
        </p:nvPicPr>
        <p:blipFill>
          <a:blip r:embed="rId2"/>
          <a:stretch>
            <a:fillRect/>
          </a:stretch>
        </p:blipFill>
        <p:spPr>
          <a:xfrm>
            <a:off x="1501726" y="2160588"/>
            <a:ext cx="6948586" cy="3881437"/>
          </a:xfrm>
          <a:prstGeom prst="rect">
            <a:avLst/>
          </a:prstGeom>
        </p:spPr>
      </p:pic>
      <p:pic>
        <p:nvPicPr>
          <p:cNvPr id="4" name="Picture 3">
            <a:extLst>
              <a:ext uri="{FF2B5EF4-FFF2-40B4-BE49-F238E27FC236}">
                <a16:creationId xmlns:a16="http://schemas.microsoft.com/office/drawing/2014/main" id="{8072D931-5CF7-49D6-79DF-7D2E3C7227F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196052" y="288315"/>
            <a:ext cx="1526020" cy="1776017"/>
          </a:xfrm>
          <a:prstGeom prst="rect">
            <a:avLst/>
          </a:prstGeom>
        </p:spPr>
      </p:pic>
      <p:pic>
        <p:nvPicPr>
          <p:cNvPr id="7" name="Picture 6">
            <a:extLst>
              <a:ext uri="{FF2B5EF4-FFF2-40B4-BE49-F238E27FC236}">
                <a16:creationId xmlns:a16="http://schemas.microsoft.com/office/drawing/2014/main" id="{9BF23D61-E2F6-6A4B-B45C-DB31FB0AA75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939461" y="5473157"/>
            <a:ext cx="432752" cy="503647"/>
          </a:xfrm>
          <a:prstGeom prst="rect">
            <a:avLst/>
          </a:prstGeom>
        </p:spPr>
      </p:pic>
      <p:sp>
        <p:nvSpPr>
          <p:cNvPr id="5" name="TextBox 4">
            <a:extLst>
              <a:ext uri="{FF2B5EF4-FFF2-40B4-BE49-F238E27FC236}">
                <a16:creationId xmlns:a16="http://schemas.microsoft.com/office/drawing/2014/main" id="{32A33ED3-C36B-CA25-2062-FAB71A3F5150}"/>
              </a:ext>
            </a:extLst>
          </p:cNvPr>
          <p:cNvSpPr txBox="1"/>
          <p:nvPr/>
        </p:nvSpPr>
        <p:spPr>
          <a:xfrm>
            <a:off x="10959062" y="6488668"/>
            <a:ext cx="1442884" cy="369332"/>
          </a:xfrm>
          <a:prstGeom prst="rect">
            <a:avLst/>
          </a:prstGeom>
          <a:noFill/>
        </p:spPr>
        <p:txBody>
          <a:bodyPr wrap="square">
            <a:spAutoFit/>
          </a:bodyPr>
          <a:lstStyle/>
          <a:p>
            <a:pPr marL="0" algn="l" rtl="0" eaLnBrk="1" latinLnBrk="0" hangingPunct="1">
              <a:buNone/>
            </a:pPr>
            <a:r>
              <a:rPr lang="en-US" sz="1800" kern="1200" dirty="0">
                <a:solidFill>
                  <a:srgbClr val="6D6834"/>
                </a:solidFill>
                <a:effectLst/>
                <a:latin typeface="Trebuchet MS" panose="020B0603020202020204" pitchFamily="34" charset="0"/>
                <a:ea typeface="+mn-ea"/>
                <a:cs typeface="+mn-cs"/>
              </a:rPr>
              <a:t>Mustaqeem</a:t>
            </a:r>
            <a:endParaRPr lang="en-IN" dirty="0">
              <a:effectLst/>
            </a:endParaRPr>
          </a:p>
        </p:txBody>
      </p:sp>
    </p:spTree>
    <p:extLst>
      <p:ext uri="{BB962C8B-B14F-4D97-AF65-F5344CB8AC3E}">
        <p14:creationId xmlns:p14="http://schemas.microsoft.com/office/powerpoint/2010/main" val="3601415583"/>
      </p:ext>
    </p:extLst>
  </p:cSld>
  <p:clrMapOvr>
    <a:masterClrMapping/>
  </p:clrMapOvr>
  <mc:AlternateContent xmlns:mc="http://schemas.openxmlformats.org/markup-compatibility/2006" xmlns:p14="http://schemas.microsoft.com/office/powerpoint/2010/main">
    <mc:Choice Requires="p14">
      <p:transition spd="slow" p14:dur="800">
        <p14:flythrough/>
      </p:transition>
    </mc:Choice>
    <mc:Fallback xmlns="">
      <p:transition spd="slow">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4604D1-2997-2A4E-E667-C91168F3261D}"/>
              </a:ext>
            </a:extLst>
          </p:cNvPr>
          <p:cNvSpPr>
            <a:spLocks noGrp="1"/>
          </p:cNvSpPr>
          <p:nvPr>
            <p:ph type="title"/>
          </p:nvPr>
        </p:nvSpPr>
        <p:spPr/>
        <p:txBody>
          <a:bodyPr/>
          <a:lstStyle/>
          <a:p>
            <a:pPr algn="ctr"/>
            <a:r>
              <a:rPr lang="en-US" dirty="0"/>
              <a:t>6. Methodology</a:t>
            </a:r>
            <a:endParaRPr lang="en-IN" dirty="0"/>
          </a:p>
        </p:txBody>
      </p:sp>
      <p:sp>
        <p:nvSpPr>
          <p:cNvPr id="3" name="Content Placeholder 2">
            <a:extLst>
              <a:ext uri="{FF2B5EF4-FFF2-40B4-BE49-F238E27FC236}">
                <a16:creationId xmlns:a16="http://schemas.microsoft.com/office/drawing/2014/main" id="{1080A272-1E1A-6104-7F41-2C9AC7D5A77A}"/>
              </a:ext>
            </a:extLst>
          </p:cNvPr>
          <p:cNvSpPr>
            <a:spLocks noGrp="1"/>
          </p:cNvSpPr>
          <p:nvPr>
            <p:ph idx="1"/>
          </p:nvPr>
        </p:nvSpPr>
        <p:spPr>
          <a:xfrm>
            <a:off x="677334" y="1930401"/>
            <a:ext cx="8596668" cy="4110962"/>
          </a:xfrm>
        </p:spPr>
        <p:txBody>
          <a:bodyPr>
            <a:noAutofit/>
          </a:bodyPr>
          <a:lstStyle/>
          <a:p>
            <a:pPr algn="just"/>
            <a:r>
              <a:rPr lang="en-US" sz="2000" dirty="0"/>
              <a:t>Extracted and rigorously cleaned the initial clinical dataset, ensuring all patient and demographic variables were properly encoded.</a:t>
            </a:r>
          </a:p>
          <a:p>
            <a:pPr algn="just"/>
            <a:r>
              <a:rPr lang="en-US" sz="2000" dirty="0"/>
              <a:t>Handled training using a strict 5-Fold Stratified Cross-Validation to guarantee that the multi-class models generalized perfectly without overfitting.</a:t>
            </a:r>
          </a:p>
          <a:p>
            <a:pPr algn="just"/>
            <a:r>
              <a:rPr lang="en-US" sz="2000" dirty="0"/>
              <a:t>Trained and thoroughly evaluated five advanced algorithms, meticulously tracking Accuracy, Macro F1, and Weighted F1 statistics for each.</a:t>
            </a:r>
          </a:p>
          <a:p>
            <a:pPr algn="just"/>
            <a:r>
              <a:rPr lang="en-US" sz="2000" dirty="0"/>
              <a:t>Achieved the absolute best performance empirically with </a:t>
            </a:r>
            <a:r>
              <a:rPr lang="en-US" sz="2000" dirty="0" err="1"/>
              <a:t>XGboost</a:t>
            </a:r>
            <a:r>
              <a:rPr lang="en-US" sz="2000" dirty="0"/>
              <a:t>, scoring a </a:t>
            </a:r>
            <a:r>
              <a:rPr lang="en-IN" sz="2000" dirty="0"/>
              <a:t>0.8952</a:t>
            </a:r>
            <a:r>
              <a:rPr lang="en-IN" sz="2000" b="1" dirty="0"/>
              <a:t> </a:t>
            </a:r>
            <a:r>
              <a:rPr lang="en-US" sz="2000" dirty="0"/>
              <a:t>test accuracy.</a:t>
            </a:r>
          </a:p>
          <a:p>
            <a:pPr algn="just"/>
            <a:r>
              <a:rPr lang="en-US" sz="2000" dirty="0"/>
              <a:t>Embedded transparent XAI tools—specifically SHAP and DiCE—directly into the highest-performing algorithms to provide clinicians with clear feature importance and actionable counterfactual scenarios.</a:t>
            </a:r>
            <a:endParaRPr lang="en-IN" sz="2000" dirty="0"/>
          </a:p>
        </p:txBody>
      </p:sp>
      <p:pic>
        <p:nvPicPr>
          <p:cNvPr id="4" name="Picture 3">
            <a:extLst>
              <a:ext uri="{FF2B5EF4-FFF2-40B4-BE49-F238E27FC236}">
                <a16:creationId xmlns:a16="http://schemas.microsoft.com/office/drawing/2014/main" id="{D2C35569-2B0A-90A3-AF28-78BEDDC1834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196052" y="288315"/>
            <a:ext cx="1526020" cy="1776017"/>
          </a:xfrm>
          <a:prstGeom prst="rect">
            <a:avLst/>
          </a:prstGeom>
        </p:spPr>
      </p:pic>
      <p:sp>
        <p:nvSpPr>
          <p:cNvPr id="6" name="TextBox 5">
            <a:extLst>
              <a:ext uri="{FF2B5EF4-FFF2-40B4-BE49-F238E27FC236}">
                <a16:creationId xmlns:a16="http://schemas.microsoft.com/office/drawing/2014/main" id="{5C657591-8D7C-D0FE-E883-A143B6411998}"/>
              </a:ext>
            </a:extLst>
          </p:cNvPr>
          <p:cNvSpPr txBox="1"/>
          <p:nvPr/>
        </p:nvSpPr>
        <p:spPr>
          <a:xfrm>
            <a:off x="11201400" y="6488668"/>
            <a:ext cx="990600" cy="369332"/>
          </a:xfrm>
          <a:prstGeom prst="rect">
            <a:avLst/>
          </a:prstGeom>
          <a:noFill/>
        </p:spPr>
        <p:txBody>
          <a:bodyPr wrap="square">
            <a:spAutoFit/>
          </a:bodyPr>
          <a:lstStyle/>
          <a:p>
            <a:pPr marL="0" algn="l" rtl="0" eaLnBrk="1" latinLnBrk="0" hangingPunct="1">
              <a:buNone/>
            </a:pPr>
            <a:r>
              <a:rPr lang="en-US" sz="1800" kern="1200" dirty="0">
                <a:solidFill>
                  <a:srgbClr val="6D6834"/>
                </a:solidFill>
                <a:effectLst/>
                <a:latin typeface="Trebuchet MS" panose="020B0603020202020204" pitchFamily="34" charset="0"/>
                <a:ea typeface="+mn-ea"/>
                <a:cs typeface="+mn-cs"/>
              </a:rPr>
              <a:t>Mustafa</a:t>
            </a:r>
            <a:endParaRPr lang="en-IN" dirty="0">
              <a:effectLst/>
            </a:endParaRPr>
          </a:p>
        </p:txBody>
      </p:sp>
    </p:spTree>
    <p:extLst>
      <p:ext uri="{BB962C8B-B14F-4D97-AF65-F5344CB8AC3E}">
        <p14:creationId xmlns:p14="http://schemas.microsoft.com/office/powerpoint/2010/main" val="2047489542"/>
      </p:ext>
    </p:extLst>
  </p:cSld>
  <p:clrMapOvr>
    <a:masterClrMapping/>
  </p:clrMapOvr>
  <mc:AlternateContent xmlns:mc="http://schemas.openxmlformats.org/markup-compatibility/2006" xmlns:p14="http://schemas.microsoft.com/office/powerpoint/2010/main">
    <mc:Choice Requires="p14">
      <p:transition spd="slow" p14:dur="800">
        <p14:flythrough/>
      </p:transition>
    </mc:Choice>
    <mc:Fallback xmlns="">
      <p:transition spd="slow">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285548-0DF2-3250-F29C-7182BFFA437F}"/>
              </a:ext>
            </a:extLst>
          </p:cNvPr>
          <p:cNvSpPr>
            <a:spLocks noGrp="1"/>
          </p:cNvSpPr>
          <p:nvPr>
            <p:ph type="title"/>
          </p:nvPr>
        </p:nvSpPr>
        <p:spPr>
          <a:xfrm>
            <a:off x="677334" y="609600"/>
            <a:ext cx="8596668" cy="1152088"/>
          </a:xfrm>
        </p:spPr>
        <p:txBody>
          <a:bodyPr/>
          <a:lstStyle/>
          <a:p>
            <a:pPr algn="ctr"/>
            <a:r>
              <a:rPr lang="en-US" dirty="0"/>
              <a:t>6.1.  System Architecture</a:t>
            </a:r>
            <a:endParaRPr lang="en-IN" dirty="0"/>
          </a:p>
        </p:txBody>
      </p:sp>
      <p:pic>
        <p:nvPicPr>
          <p:cNvPr id="4" name="Picture 3">
            <a:extLst>
              <a:ext uri="{FF2B5EF4-FFF2-40B4-BE49-F238E27FC236}">
                <a16:creationId xmlns:a16="http://schemas.microsoft.com/office/drawing/2014/main" id="{39267F49-6225-3B32-79FC-D6F9D08CCB5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196052" y="288315"/>
            <a:ext cx="1526020" cy="1776017"/>
          </a:xfrm>
          <a:prstGeom prst="rect">
            <a:avLst/>
          </a:prstGeom>
        </p:spPr>
      </p:pic>
      <p:sp>
        <p:nvSpPr>
          <p:cNvPr id="19" name="TextBox 18">
            <a:extLst>
              <a:ext uri="{FF2B5EF4-FFF2-40B4-BE49-F238E27FC236}">
                <a16:creationId xmlns:a16="http://schemas.microsoft.com/office/drawing/2014/main" id="{33E395ED-B572-5AB6-E395-A3C5C9050CA5}"/>
              </a:ext>
            </a:extLst>
          </p:cNvPr>
          <p:cNvSpPr txBox="1"/>
          <p:nvPr/>
        </p:nvSpPr>
        <p:spPr>
          <a:xfrm>
            <a:off x="10956385" y="6488668"/>
            <a:ext cx="1531374" cy="369332"/>
          </a:xfrm>
          <a:prstGeom prst="rect">
            <a:avLst/>
          </a:prstGeom>
          <a:noFill/>
        </p:spPr>
        <p:txBody>
          <a:bodyPr wrap="square">
            <a:spAutoFit/>
          </a:bodyPr>
          <a:lstStyle/>
          <a:p>
            <a:pPr marL="0" algn="l" rtl="0" eaLnBrk="1" latinLnBrk="0" hangingPunct="1">
              <a:buNone/>
            </a:pPr>
            <a:r>
              <a:rPr lang="en-US" sz="1800" kern="1200" dirty="0">
                <a:solidFill>
                  <a:srgbClr val="6D6834"/>
                </a:solidFill>
                <a:effectLst/>
                <a:latin typeface="Trebuchet MS" panose="020B0603020202020204" pitchFamily="34" charset="0"/>
                <a:ea typeface="+mn-ea"/>
                <a:cs typeface="+mn-cs"/>
              </a:rPr>
              <a:t>Mustaqeem</a:t>
            </a:r>
            <a:endParaRPr lang="en-IN" dirty="0">
              <a:effectLst/>
            </a:endParaRPr>
          </a:p>
        </p:txBody>
      </p:sp>
      <p:pic>
        <p:nvPicPr>
          <p:cNvPr id="1026" name="Picture 2">
            <a:extLst>
              <a:ext uri="{FF2B5EF4-FFF2-40B4-BE49-F238E27FC236}">
                <a16:creationId xmlns:a16="http://schemas.microsoft.com/office/drawing/2014/main" id="{8C82734A-35E0-767F-1116-10E18717A0E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219200" y="566738"/>
            <a:ext cx="9753600" cy="5724525"/>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6">
            <a:extLst>
              <a:ext uri="{FF2B5EF4-FFF2-40B4-BE49-F238E27FC236}">
                <a16:creationId xmlns:a16="http://schemas.microsoft.com/office/drawing/2014/main" id="{B23D5202-5348-4876-8226-07671CC2A02D}"/>
              </a:ext>
            </a:extLst>
          </p:cNvPr>
          <p:cNvPicPr>
            <a:picLocks noChangeAspect="1"/>
          </p:cNvPicPr>
          <p:nvPr/>
        </p:nvPicPr>
        <p:blipFill>
          <a:blip r:embed="rId3"/>
          <a:stretch>
            <a:fillRect/>
          </a:stretch>
        </p:blipFill>
        <p:spPr>
          <a:xfrm>
            <a:off x="1219200" y="566737"/>
            <a:ext cx="9753600" cy="5724525"/>
          </a:xfrm>
          <a:prstGeom prst="rect">
            <a:avLst/>
          </a:prstGeom>
        </p:spPr>
      </p:pic>
      <p:pic>
        <p:nvPicPr>
          <p:cNvPr id="9" name="Picture 8">
            <a:extLst>
              <a:ext uri="{FF2B5EF4-FFF2-40B4-BE49-F238E27FC236}">
                <a16:creationId xmlns:a16="http://schemas.microsoft.com/office/drawing/2014/main" id="{A31829D5-D48C-0F2B-9C3C-4980B7CE1451}"/>
              </a:ext>
            </a:extLst>
          </p:cNvPr>
          <p:cNvPicPr>
            <a:picLocks noChangeAspect="1"/>
          </p:cNvPicPr>
          <p:nvPr/>
        </p:nvPicPr>
        <p:blipFill>
          <a:blip r:embed="rId3"/>
          <a:stretch>
            <a:fillRect/>
          </a:stretch>
        </p:blipFill>
        <p:spPr>
          <a:xfrm>
            <a:off x="5250426" y="2932720"/>
            <a:ext cx="5722374" cy="3358542"/>
          </a:xfrm>
          <a:prstGeom prst="rect">
            <a:avLst/>
          </a:prstGeom>
        </p:spPr>
      </p:pic>
      <p:pic>
        <p:nvPicPr>
          <p:cNvPr id="11" name="Picture 10">
            <a:extLst>
              <a:ext uri="{FF2B5EF4-FFF2-40B4-BE49-F238E27FC236}">
                <a16:creationId xmlns:a16="http://schemas.microsoft.com/office/drawing/2014/main" id="{AB340688-68FB-4DCA-FF18-5AE2C0D1FC18}"/>
              </a:ext>
            </a:extLst>
          </p:cNvPr>
          <p:cNvPicPr>
            <a:picLocks noChangeAspect="1"/>
          </p:cNvPicPr>
          <p:nvPr/>
        </p:nvPicPr>
        <p:blipFill>
          <a:blip r:embed="rId3"/>
          <a:stretch>
            <a:fillRect/>
          </a:stretch>
        </p:blipFill>
        <p:spPr>
          <a:xfrm>
            <a:off x="1219200" y="566737"/>
            <a:ext cx="9753600" cy="5724525"/>
          </a:xfrm>
          <a:prstGeom prst="rect">
            <a:avLst/>
          </a:prstGeom>
        </p:spPr>
      </p:pic>
      <p:pic>
        <p:nvPicPr>
          <p:cNvPr id="13" name="Picture 12">
            <a:extLst>
              <a:ext uri="{FF2B5EF4-FFF2-40B4-BE49-F238E27FC236}">
                <a16:creationId xmlns:a16="http://schemas.microsoft.com/office/drawing/2014/main" id="{5A6B09F5-49C1-A235-5A98-B77C69C74809}"/>
              </a:ext>
            </a:extLst>
          </p:cNvPr>
          <p:cNvPicPr>
            <a:picLocks noChangeAspect="1"/>
          </p:cNvPicPr>
          <p:nvPr/>
        </p:nvPicPr>
        <p:blipFill>
          <a:blip r:embed="rId4"/>
          <a:stretch>
            <a:fillRect/>
          </a:stretch>
        </p:blipFill>
        <p:spPr>
          <a:xfrm>
            <a:off x="1219200" y="1348247"/>
            <a:ext cx="8495071" cy="4985877"/>
          </a:xfrm>
          <a:prstGeom prst="rect">
            <a:avLst/>
          </a:prstGeom>
        </p:spPr>
      </p:pic>
    </p:spTree>
    <p:extLst>
      <p:ext uri="{BB962C8B-B14F-4D97-AF65-F5344CB8AC3E}">
        <p14:creationId xmlns:p14="http://schemas.microsoft.com/office/powerpoint/2010/main" val="342333725"/>
      </p:ext>
    </p:extLst>
  </p:cSld>
  <p:clrMapOvr>
    <a:masterClrMapping/>
  </p:clrMapOvr>
  <mc:AlternateContent xmlns:mc="http://schemas.openxmlformats.org/markup-compatibility/2006" xmlns:p14="http://schemas.microsoft.com/office/powerpoint/2010/main">
    <mc:Choice Requires="p14">
      <p:transition spd="slow" p14:dur="800">
        <p14:flythrough/>
      </p:transition>
    </mc:Choice>
    <mc:Fallback xmlns="">
      <p:transition spd="slow">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3314F49-76A5-0946-2E4E-B86ABE6CD16C}"/>
              </a:ext>
            </a:extLst>
          </p:cNvPr>
          <p:cNvSpPr>
            <a:spLocks noGrp="1"/>
          </p:cNvSpPr>
          <p:nvPr>
            <p:ph type="title"/>
          </p:nvPr>
        </p:nvSpPr>
        <p:spPr/>
        <p:txBody>
          <a:bodyPr/>
          <a:lstStyle/>
          <a:p>
            <a:pPr algn="ctr"/>
            <a:r>
              <a:rPr lang="en-US" dirty="0"/>
              <a:t>6.2.  Technology Used </a:t>
            </a:r>
            <a:endParaRPr lang="en-IN" dirty="0"/>
          </a:p>
        </p:txBody>
      </p:sp>
      <p:pic>
        <p:nvPicPr>
          <p:cNvPr id="4" name="Picture 3">
            <a:extLst>
              <a:ext uri="{FF2B5EF4-FFF2-40B4-BE49-F238E27FC236}">
                <a16:creationId xmlns:a16="http://schemas.microsoft.com/office/drawing/2014/main" id="{B0B9147D-C908-B0EB-4660-CB662E49D78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196052" y="288315"/>
            <a:ext cx="1526020" cy="1776017"/>
          </a:xfrm>
          <a:prstGeom prst="rect">
            <a:avLst/>
          </a:prstGeom>
        </p:spPr>
      </p:pic>
      <p:pic>
        <p:nvPicPr>
          <p:cNvPr id="20" name="Content Placeholder 19">
            <a:extLst>
              <a:ext uri="{FF2B5EF4-FFF2-40B4-BE49-F238E27FC236}">
                <a16:creationId xmlns:a16="http://schemas.microsoft.com/office/drawing/2014/main" id="{27997052-BDCA-265F-C8A4-8236B39F0C40}"/>
              </a:ext>
            </a:extLst>
          </p:cNvPr>
          <p:cNvPicPr>
            <a:picLocks noGrp="1" noChangeAspect="1"/>
          </p:cNvPicPr>
          <p:nvPr>
            <p:ph idx="1"/>
          </p:nvPr>
        </p:nvPicPr>
        <p:blipFill>
          <a:blip r:embed="rId3"/>
          <a:stretch>
            <a:fillRect/>
          </a:stretch>
        </p:blipFill>
        <p:spPr>
          <a:xfrm>
            <a:off x="1847955" y="1930400"/>
            <a:ext cx="6440367" cy="4111625"/>
          </a:xfrm>
          <a:prstGeom prst="rect">
            <a:avLst/>
          </a:prstGeom>
        </p:spPr>
      </p:pic>
      <p:sp>
        <p:nvSpPr>
          <p:cNvPr id="5" name="TextBox 4">
            <a:extLst>
              <a:ext uri="{FF2B5EF4-FFF2-40B4-BE49-F238E27FC236}">
                <a16:creationId xmlns:a16="http://schemas.microsoft.com/office/drawing/2014/main" id="{90B7AEC0-5D0C-1BC8-95A6-2A7B92A9962C}"/>
              </a:ext>
            </a:extLst>
          </p:cNvPr>
          <p:cNvSpPr txBox="1"/>
          <p:nvPr/>
        </p:nvSpPr>
        <p:spPr>
          <a:xfrm>
            <a:off x="10959062" y="6488668"/>
            <a:ext cx="1452716" cy="369332"/>
          </a:xfrm>
          <a:prstGeom prst="rect">
            <a:avLst/>
          </a:prstGeom>
          <a:noFill/>
        </p:spPr>
        <p:txBody>
          <a:bodyPr wrap="square">
            <a:spAutoFit/>
          </a:bodyPr>
          <a:lstStyle/>
          <a:p>
            <a:pPr marL="0" algn="l" rtl="0" eaLnBrk="1" latinLnBrk="0" hangingPunct="1">
              <a:buNone/>
            </a:pPr>
            <a:r>
              <a:rPr lang="en-US" sz="1800" kern="1200" dirty="0">
                <a:solidFill>
                  <a:srgbClr val="6D6834"/>
                </a:solidFill>
                <a:effectLst/>
                <a:latin typeface="Trebuchet MS" panose="020B0603020202020204" pitchFamily="34" charset="0"/>
                <a:ea typeface="+mn-ea"/>
                <a:cs typeface="+mn-cs"/>
              </a:rPr>
              <a:t>Mustaqeem</a:t>
            </a:r>
            <a:endParaRPr lang="en-IN" dirty="0">
              <a:effectLst/>
            </a:endParaRPr>
          </a:p>
        </p:txBody>
      </p:sp>
    </p:spTree>
    <p:extLst>
      <p:ext uri="{BB962C8B-B14F-4D97-AF65-F5344CB8AC3E}">
        <p14:creationId xmlns:p14="http://schemas.microsoft.com/office/powerpoint/2010/main" val="3680472604"/>
      </p:ext>
    </p:extLst>
  </p:cSld>
  <p:clrMapOvr>
    <a:masterClrMapping/>
  </p:clrMapOvr>
  <mc:AlternateContent xmlns:mc="http://schemas.openxmlformats.org/markup-compatibility/2006" xmlns:p14="http://schemas.microsoft.com/office/powerpoint/2010/main">
    <mc:Choice Requires="p14">
      <p:transition spd="slow" p14:dur="800">
        <p14:flythrough/>
      </p:transition>
    </mc:Choice>
    <mc:Fallback xmlns="">
      <p:transition spd="slow">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711870-5805-4B78-D976-9785C313D6BA}"/>
              </a:ext>
            </a:extLst>
          </p:cNvPr>
          <p:cNvSpPr>
            <a:spLocks noGrp="1"/>
          </p:cNvSpPr>
          <p:nvPr>
            <p:ph type="title"/>
          </p:nvPr>
        </p:nvSpPr>
        <p:spPr/>
        <p:txBody>
          <a:bodyPr/>
          <a:lstStyle/>
          <a:p>
            <a:pPr algn="ctr"/>
            <a:r>
              <a:rPr lang="en-US" dirty="0"/>
              <a:t>6.3. Datasets</a:t>
            </a:r>
            <a:endParaRPr lang="en-IN" dirty="0"/>
          </a:p>
        </p:txBody>
      </p:sp>
      <p:sp>
        <p:nvSpPr>
          <p:cNvPr id="3" name="Content Placeholder 2">
            <a:extLst>
              <a:ext uri="{FF2B5EF4-FFF2-40B4-BE49-F238E27FC236}">
                <a16:creationId xmlns:a16="http://schemas.microsoft.com/office/drawing/2014/main" id="{FE54EB50-E16F-580A-E989-5EBA32D2BE38}"/>
              </a:ext>
            </a:extLst>
          </p:cNvPr>
          <p:cNvSpPr>
            <a:spLocks noGrp="1"/>
          </p:cNvSpPr>
          <p:nvPr>
            <p:ph idx="1"/>
          </p:nvPr>
        </p:nvSpPr>
        <p:spPr>
          <a:xfrm>
            <a:off x="677334" y="1753299"/>
            <a:ext cx="8596668" cy="4288063"/>
          </a:xfrm>
        </p:spPr>
        <p:txBody>
          <a:bodyPr>
            <a:normAutofit lnSpcReduction="10000"/>
          </a:bodyPr>
          <a:lstStyle/>
          <a:p>
            <a:pPr algn="just"/>
            <a:r>
              <a:rPr lang="en-US" sz="2400" dirty="0"/>
              <a:t>Data Scope: Curated a comprehensive multiple-class clinical dataset encompassing various demographic, historical, and clinical scoring variables for Multiple Sclerosis.</a:t>
            </a:r>
          </a:p>
          <a:p>
            <a:pPr algn="just"/>
            <a:r>
              <a:rPr lang="en-US" sz="2400" dirty="0"/>
              <a:t>Target Categories: Categorized patient records strictly into three distinct medical sub-stages: RRMS, PPMS, and SPMS.</a:t>
            </a:r>
          </a:p>
          <a:p>
            <a:pPr algn="just"/>
            <a:r>
              <a:rPr lang="en-US" sz="2400" dirty="0"/>
              <a:t>Initial Imbalance Identified: Diagnosed severe numerical bias and underrepresentation specifically within the Primary Progressive (PPMS) subtype, which originally held only 100 samples.</a:t>
            </a:r>
          </a:p>
          <a:p>
            <a:pPr marL="0" indent="0" algn="just">
              <a:buNone/>
            </a:pPr>
            <a:endParaRPr lang="en-IN" dirty="0"/>
          </a:p>
        </p:txBody>
      </p:sp>
      <p:pic>
        <p:nvPicPr>
          <p:cNvPr id="4" name="Picture 3">
            <a:extLst>
              <a:ext uri="{FF2B5EF4-FFF2-40B4-BE49-F238E27FC236}">
                <a16:creationId xmlns:a16="http://schemas.microsoft.com/office/drawing/2014/main" id="{C7BC55BB-4F01-03FA-AA0D-D768FAAB206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196052" y="288315"/>
            <a:ext cx="1526020" cy="1776017"/>
          </a:xfrm>
          <a:prstGeom prst="rect">
            <a:avLst/>
          </a:prstGeom>
        </p:spPr>
      </p:pic>
      <p:sp>
        <p:nvSpPr>
          <p:cNvPr id="6" name="TextBox 5">
            <a:extLst>
              <a:ext uri="{FF2B5EF4-FFF2-40B4-BE49-F238E27FC236}">
                <a16:creationId xmlns:a16="http://schemas.microsoft.com/office/drawing/2014/main" id="{F5D1436A-1B03-17BD-BE80-66DCC5E3A6B2}"/>
              </a:ext>
            </a:extLst>
          </p:cNvPr>
          <p:cNvSpPr txBox="1"/>
          <p:nvPr/>
        </p:nvSpPr>
        <p:spPr>
          <a:xfrm>
            <a:off x="11447206" y="6488668"/>
            <a:ext cx="744794" cy="369332"/>
          </a:xfrm>
          <a:prstGeom prst="rect">
            <a:avLst/>
          </a:prstGeom>
          <a:noFill/>
        </p:spPr>
        <p:txBody>
          <a:bodyPr wrap="square">
            <a:spAutoFit/>
          </a:bodyPr>
          <a:lstStyle/>
          <a:p>
            <a:r>
              <a:rPr lang="en-US" sz="1800" kern="1200" dirty="0">
                <a:solidFill>
                  <a:schemeClr val="accent6">
                    <a:lumMod val="50000"/>
                  </a:schemeClr>
                </a:solidFill>
                <a:effectLst/>
                <a:latin typeface="Trebuchet MS" panose="020B0603020202020204" pitchFamily="34" charset="0"/>
                <a:ea typeface="+mn-ea"/>
                <a:cs typeface="+mn-cs"/>
              </a:rPr>
              <a:t>Atha</a:t>
            </a:r>
            <a:endParaRPr lang="en-IN" dirty="0">
              <a:solidFill>
                <a:schemeClr val="accent6">
                  <a:lumMod val="50000"/>
                </a:schemeClr>
              </a:solidFill>
            </a:endParaRPr>
          </a:p>
        </p:txBody>
      </p:sp>
    </p:spTree>
    <p:extLst>
      <p:ext uri="{BB962C8B-B14F-4D97-AF65-F5344CB8AC3E}">
        <p14:creationId xmlns:p14="http://schemas.microsoft.com/office/powerpoint/2010/main" val="683005636"/>
      </p:ext>
    </p:extLst>
  </p:cSld>
  <p:clrMapOvr>
    <a:masterClrMapping/>
  </p:clrMapOvr>
  <mc:AlternateContent xmlns:mc="http://schemas.openxmlformats.org/markup-compatibility/2006" xmlns:p14="http://schemas.microsoft.com/office/powerpoint/2010/main">
    <mc:Choice Requires="p14">
      <p:transition spd="slow" p14:dur="800">
        <p14:flythrough/>
      </p:transition>
    </mc:Choice>
    <mc:Fallback xmlns="">
      <p:transition spd="slow">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5BECCD-857B-26AA-1F18-AFA8E09F434B}"/>
              </a:ext>
            </a:extLst>
          </p:cNvPr>
          <p:cNvSpPr>
            <a:spLocks noGrp="1"/>
          </p:cNvSpPr>
          <p:nvPr>
            <p:ph type="title"/>
          </p:nvPr>
        </p:nvSpPr>
        <p:spPr/>
        <p:txBody>
          <a:bodyPr/>
          <a:lstStyle/>
          <a:p>
            <a:pPr algn="ctr"/>
            <a:r>
              <a:rPr lang="en-US" dirty="0">
                <a:latin typeface="Times New Roman" panose="02020603050405020304" pitchFamily="18" charset="0"/>
                <a:cs typeface="Times New Roman" panose="02020603050405020304" pitchFamily="18" charset="0"/>
              </a:rPr>
              <a:t>7. Implementation</a:t>
            </a:r>
            <a:endParaRPr lang="en-IN" dirty="0"/>
          </a:p>
        </p:txBody>
      </p:sp>
      <p:sp>
        <p:nvSpPr>
          <p:cNvPr id="3" name="Content Placeholder 2">
            <a:extLst>
              <a:ext uri="{FF2B5EF4-FFF2-40B4-BE49-F238E27FC236}">
                <a16:creationId xmlns:a16="http://schemas.microsoft.com/office/drawing/2014/main" id="{2C6ECF7B-2062-236E-7BCC-5C7BC165C9ED}"/>
              </a:ext>
            </a:extLst>
          </p:cNvPr>
          <p:cNvSpPr>
            <a:spLocks noGrp="1"/>
          </p:cNvSpPr>
          <p:nvPr>
            <p:ph idx="1"/>
          </p:nvPr>
        </p:nvSpPr>
        <p:spPr>
          <a:xfrm flipH="1">
            <a:off x="12803783" y="6086168"/>
            <a:ext cx="204294" cy="92845"/>
          </a:xfrm>
        </p:spPr>
        <p:txBody>
          <a:bodyPr>
            <a:normAutofit fontScale="25000" lnSpcReduction="20000"/>
          </a:bodyPr>
          <a:lstStyle/>
          <a:p>
            <a:endParaRPr lang="en-IN" dirty="0"/>
          </a:p>
        </p:txBody>
      </p:sp>
      <p:pic>
        <p:nvPicPr>
          <p:cNvPr id="6" name="Picture 5">
            <a:extLst>
              <a:ext uri="{FF2B5EF4-FFF2-40B4-BE49-F238E27FC236}">
                <a16:creationId xmlns:a16="http://schemas.microsoft.com/office/drawing/2014/main" id="{C80523C7-F57E-0594-912E-4DAE0E6A2A8D}"/>
              </a:ext>
            </a:extLst>
          </p:cNvPr>
          <p:cNvPicPr>
            <a:picLocks noChangeAspect="1"/>
          </p:cNvPicPr>
          <p:nvPr/>
        </p:nvPicPr>
        <p:blipFill>
          <a:blip r:embed="rId2"/>
          <a:stretch>
            <a:fillRect/>
          </a:stretch>
        </p:blipFill>
        <p:spPr>
          <a:xfrm>
            <a:off x="1371904" y="1504335"/>
            <a:ext cx="8686496" cy="4852223"/>
          </a:xfrm>
          <a:prstGeom prst="roundRect">
            <a:avLst>
              <a:gd name="adj" fmla="val 4167"/>
            </a:avLst>
          </a:prstGeom>
          <a:solidFill>
            <a:srgbClr val="FFFFFF"/>
          </a:solidFill>
          <a:ln w="76200" cap="sq">
            <a:solidFill>
              <a:srgbClr val="EAEAEA"/>
            </a:solidFill>
            <a:miter lim="800000"/>
          </a:ln>
          <a:effectLst>
            <a:reflection blurRad="12700" stA="33000" endPos="28000" dist="5000" dir="5400000" sy="-100000" algn="bl" rotWithShape="0"/>
          </a:effectLst>
          <a:scene3d>
            <a:camera prst="orthographicFront"/>
            <a:lightRig rig="threePt" dir="t">
              <a:rot lat="0" lon="0" rev="2700000"/>
            </a:lightRig>
          </a:scene3d>
          <a:sp3d contourW="6350">
            <a:bevelT h="38100"/>
            <a:contourClr>
              <a:srgbClr val="C0C0C0"/>
            </a:contourClr>
          </a:sp3d>
        </p:spPr>
      </p:pic>
      <p:sp>
        <p:nvSpPr>
          <p:cNvPr id="4" name="TextBox 3">
            <a:extLst>
              <a:ext uri="{FF2B5EF4-FFF2-40B4-BE49-F238E27FC236}">
                <a16:creationId xmlns:a16="http://schemas.microsoft.com/office/drawing/2014/main" id="{817E37EF-F404-713A-273E-8A6D1DCC6500}"/>
              </a:ext>
            </a:extLst>
          </p:cNvPr>
          <p:cNvSpPr txBox="1"/>
          <p:nvPr/>
        </p:nvSpPr>
        <p:spPr>
          <a:xfrm>
            <a:off x="11189110" y="6488668"/>
            <a:ext cx="1533832" cy="369332"/>
          </a:xfrm>
          <a:prstGeom prst="rect">
            <a:avLst/>
          </a:prstGeom>
          <a:noFill/>
        </p:spPr>
        <p:txBody>
          <a:bodyPr wrap="square" rtlCol="0">
            <a:spAutoFit/>
          </a:bodyPr>
          <a:lstStyle/>
          <a:p>
            <a:r>
              <a:rPr lang="en-US" dirty="0">
                <a:solidFill>
                  <a:schemeClr val="accent6">
                    <a:lumMod val="50000"/>
                  </a:schemeClr>
                </a:solidFill>
              </a:rPr>
              <a:t>Mustafa</a:t>
            </a:r>
            <a:endParaRPr lang="en-IN" dirty="0">
              <a:solidFill>
                <a:schemeClr val="accent6">
                  <a:lumMod val="50000"/>
                </a:schemeClr>
              </a:solidFill>
            </a:endParaRPr>
          </a:p>
        </p:txBody>
      </p:sp>
    </p:spTree>
    <p:extLst>
      <p:ext uri="{BB962C8B-B14F-4D97-AF65-F5344CB8AC3E}">
        <p14:creationId xmlns:p14="http://schemas.microsoft.com/office/powerpoint/2010/main" val="220365152"/>
      </p:ext>
    </p:extLst>
  </p:cSld>
  <p:clrMapOvr>
    <a:masterClrMapping/>
  </p:clrMapOvr>
  <mc:AlternateContent xmlns:mc="http://schemas.openxmlformats.org/markup-compatibility/2006" xmlns:p14="http://schemas.microsoft.com/office/powerpoint/2010/main">
    <mc:Choice Requires="p14">
      <p:transition spd="slow" p14:dur="800">
        <p14:flythrough/>
      </p:transition>
    </mc:Choice>
    <mc:Fallback xmlns="">
      <p:transition spd="slow">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FAB66D-2AAF-1D85-FDBC-1F175FF6B670}"/>
              </a:ext>
            </a:extLst>
          </p:cNvPr>
          <p:cNvSpPr>
            <a:spLocks noGrp="1"/>
          </p:cNvSpPr>
          <p:nvPr>
            <p:ph type="title"/>
          </p:nvPr>
        </p:nvSpPr>
        <p:spPr/>
        <p:txBody>
          <a:bodyPr/>
          <a:lstStyle/>
          <a:p>
            <a:r>
              <a:rPr lang="en-US" dirty="0">
                <a:latin typeface="Times New Roman" panose="02020603050405020304" pitchFamily="18" charset="0"/>
                <a:cs typeface="Times New Roman" panose="02020603050405020304" pitchFamily="18" charset="0"/>
              </a:rPr>
              <a:t>8.Results </a:t>
            </a:r>
            <a:endParaRPr lang="en-IN" dirty="0"/>
          </a:p>
        </p:txBody>
      </p:sp>
      <p:pic>
        <p:nvPicPr>
          <p:cNvPr id="5" name="Content Placeholder 4">
            <a:extLst>
              <a:ext uri="{FF2B5EF4-FFF2-40B4-BE49-F238E27FC236}">
                <a16:creationId xmlns:a16="http://schemas.microsoft.com/office/drawing/2014/main" id="{62DFE04E-8D8C-9D9E-9FBA-E6ECF45BD21C}"/>
              </a:ext>
            </a:extLst>
          </p:cNvPr>
          <p:cNvPicPr>
            <a:picLocks noGrp="1" noChangeAspect="1"/>
          </p:cNvPicPr>
          <p:nvPr>
            <p:ph idx="1"/>
          </p:nvPr>
        </p:nvPicPr>
        <p:blipFill>
          <a:blip r:embed="rId2"/>
          <a:stretch>
            <a:fillRect/>
          </a:stretch>
        </p:blipFill>
        <p:spPr>
          <a:xfrm>
            <a:off x="2476635" y="1155364"/>
            <a:ext cx="5703801" cy="4827565"/>
          </a:xfrm>
          <a:prstGeom prst="rect">
            <a:avLst/>
          </a:prstGeom>
        </p:spPr>
      </p:pic>
      <p:sp>
        <p:nvSpPr>
          <p:cNvPr id="6" name="TextBox 5">
            <a:extLst>
              <a:ext uri="{FF2B5EF4-FFF2-40B4-BE49-F238E27FC236}">
                <a16:creationId xmlns:a16="http://schemas.microsoft.com/office/drawing/2014/main" id="{562ADF5D-E19D-5A34-F10B-00E3B362EDC6}"/>
              </a:ext>
            </a:extLst>
          </p:cNvPr>
          <p:cNvSpPr txBox="1"/>
          <p:nvPr/>
        </p:nvSpPr>
        <p:spPr>
          <a:xfrm>
            <a:off x="4857135" y="5982929"/>
            <a:ext cx="2330246" cy="523220"/>
          </a:xfrm>
          <a:prstGeom prst="rect">
            <a:avLst/>
          </a:prstGeom>
          <a:noFill/>
        </p:spPr>
        <p:txBody>
          <a:bodyPr wrap="square" rtlCol="0">
            <a:spAutoFit/>
          </a:bodyPr>
          <a:lstStyle/>
          <a:p>
            <a:r>
              <a:rPr lang="en-US" sz="2800" dirty="0"/>
              <a:t>XGBoost</a:t>
            </a:r>
            <a:endParaRPr lang="en-IN" sz="2800" dirty="0"/>
          </a:p>
        </p:txBody>
      </p:sp>
      <p:sp>
        <p:nvSpPr>
          <p:cNvPr id="7" name="TextBox 6">
            <a:extLst>
              <a:ext uri="{FF2B5EF4-FFF2-40B4-BE49-F238E27FC236}">
                <a16:creationId xmlns:a16="http://schemas.microsoft.com/office/drawing/2014/main" id="{08523D8B-57AB-81B0-A778-7F7E2A78B6A1}"/>
              </a:ext>
            </a:extLst>
          </p:cNvPr>
          <p:cNvSpPr txBox="1"/>
          <p:nvPr/>
        </p:nvSpPr>
        <p:spPr>
          <a:xfrm>
            <a:off x="10913805" y="6506149"/>
            <a:ext cx="1858297" cy="369332"/>
          </a:xfrm>
          <a:prstGeom prst="rect">
            <a:avLst/>
          </a:prstGeom>
          <a:noFill/>
        </p:spPr>
        <p:txBody>
          <a:bodyPr wrap="square" rtlCol="0">
            <a:spAutoFit/>
          </a:bodyPr>
          <a:lstStyle/>
          <a:p>
            <a:r>
              <a:rPr lang="en-US" dirty="0">
                <a:solidFill>
                  <a:schemeClr val="accent6">
                    <a:lumMod val="50000"/>
                  </a:schemeClr>
                </a:solidFill>
              </a:rPr>
              <a:t>Mustaqeem</a:t>
            </a:r>
            <a:endParaRPr lang="en-IN" dirty="0">
              <a:solidFill>
                <a:schemeClr val="accent6">
                  <a:lumMod val="50000"/>
                </a:schemeClr>
              </a:solidFill>
            </a:endParaRPr>
          </a:p>
        </p:txBody>
      </p:sp>
    </p:spTree>
    <p:extLst>
      <p:ext uri="{BB962C8B-B14F-4D97-AF65-F5344CB8AC3E}">
        <p14:creationId xmlns:p14="http://schemas.microsoft.com/office/powerpoint/2010/main" val="4028754338"/>
      </p:ext>
    </p:extLst>
  </p:cSld>
  <p:clrMapOvr>
    <a:masterClrMapping/>
  </p:clrMapOvr>
  <mc:AlternateContent xmlns:mc="http://schemas.openxmlformats.org/markup-compatibility/2006" xmlns:p14="http://schemas.microsoft.com/office/powerpoint/2010/main">
    <mc:Choice Requires="p14">
      <p:transition spd="slow" p14:dur="800">
        <p14:flythrough/>
      </p:transition>
    </mc:Choice>
    <mc:Fallback xmlns="">
      <p:transition spd="slow">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Placeholder 4">
            <a:extLst>
              <a:ext uri="{FF2B5EF4-FFF2-40B4-BE49-F238E27FC236}">
                <a16:creationId xmlns:a16="http://schemas.microsoft.com/office/drawing/2014/main" id="{D9B90AAF-B4F8-7314-8CA8-1EDA3E076484}"/>
              </a:ext>
            </a:extLst>
          </p:cNvPr>
          <p:cNvSpPr>
            <a:spLocks noGrp="1"/>
          </p:cNvSpPr>
          <p:nvPr>
            <p:ph type="body" idx="1"/>
          </p:nvPr>
        </p:nvSpPr>
        <p:spPr>
          <a:xfrm>
            <a:off x="2300749" y="5388077"/>
            <a:ext cx="6292646" cy="491614"/>
          </a:xfrm>
        </p:spPr>
        <p:txBody>
          <a:bodyPr/>
          <a:lstStyle/>
          <a:p>
            <a:r>
              <a:rPr lang="en-US" dirty="0"/>
              <a:t>Counterfactual Explanations using Dice </a:t>
            </a:r>
            <a:endParaRPr lang="en-IN" dirty="0"/>
          </a:p>
        </p:txBody>
      </p:sp>
      <p:pic>
        <p:nvPicPr>
          <p:cNvPr id="8" name="Picture 7">
            <a:extLst>
              <a:ext uri="{FF2B5EF4-FFF2-40B4-BE49-F238E27FC236}">
                <a16:creationId xmlns:a16="http://schemas.microsoft.com/office/drawing/2014/main" id="{0146D1C8-DA89-8735-1E65-A5C5B1442DBE}"/>
              </a:ext>
            </a:extLst>
          </p:cNvPr>
          <p:cNvPicPr>
            <a:picLocks noChangeAspect="1"/>
          </p:cNvPicPr>
          <p:nvPr/>
        </p:nvPicPr>
        <p:blipFill>
          <a:blip r:embed="rId2"/>
          <a:stretch>
            <a:fillRect/>
          </a:stretch>
        </p:blipFill>
        <p:spPr>
          <a:xfrm>
            <a:off x="989781" y="501445"/>
            <a:ext cx="8778567" cy="4713492"/>
          </a:xfrm>
          <a:prstGeom prst="rect">
            <a:avLst/>
          </a:prstGeom>
        </p:spPr>
      </p:pic>
      <p:sp>
        <p:nvSpPr>
          <p:cNvPr id="9" name="TextBox 8">
            <a:extLst>
              <a:ext uri="{FF2B5EF4-FFF2-40B4-BE49-F238E27FC236}">
                <a16:creationId xmlns:a16="http://schemas.microsoft.com/office/drawing/2014/main" id="{B287AC07-0857-7F01-5671-EA8DBD3F71DF}"/>
              </a:ext>
            </a:extLst>
          </p:cNvPr>
          <p:cNvSpPr txBox="1"/>
          <p:nvPr/>
        </p:nvSpPr>
        <p:spPr>
          <a:xfrm>
            <a:off x="11262851" y="6488668"/>
            <a:ext cx="1858297" cy="369332"/>
          </a:xfrm>
          <a:prstGeom prst="rect">
            <a:avLst/>
          </a:prstGeom>
          <a:noFill/>
        </p:spPr>
        <p:txBody>
          <a:bodyPr wrap="square" rtlCol="0">
            <a:spAutoFit/>
          </a:bodyPr>
          <a:lstStyle/>
          <a:p>
            <a:r>
              <a:rPr lang="en-US" dirty="0" err="1">
                <a:solidFill>
                  <a:schemeClr val="accent6">
                    <a:lumMod val="50000"/>
                  </a:schemeClr>
                </a:solidFill>
              </a:rPr>
              <a:t>Msutafa</a:t>
            </a:r>
            <a:endParaRPr lang="en-IN" dirty="0">
              <a:solidFill>
                <a:schemeClr val="accent6">
                  <a:lumMod val="50000"/>
                </a:schemeClr>
              </a:solidFill>
            </a:endParaRPr>
          </a:p>
        </p:txBody>
      </p:sp>
    </p:spTree>
    <p:extLst>
      <p:ext uri="{BB962C8B-B14F-4D97-AF65-F5344CB8AC3E}">
        <p14:creationId xmlns:p14="http://schemas.microsoft.com/office/powerpoint/2010/main" val="2556845315"/>
      </p:ext>
    </p:extLst>
  </p:cSld>
  <p:clrMapOvr>
    <a:masterClrMapping/>
  </p:clrMapOvr>
  <mc:AlternateContent xmlns:mc="http://schemas.openxmlformats.org/markup-compatibility/2006" xmlns:p14="http://schemas.microsoft.com/office/powerpoint/2010/main">
    <mc:Choice Requires="p14">
      <p:transition spd="slow" p14:dur="800">
        <p14:flythrough/>
      </p:transition>
    </mc:Choice>
    <mc:Fallback xmlns="">
      <p:transition spd="slow">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7F5CD2B6-E6E4-1E65-9AD1-1B1057E2FA13}"/>
              </a:ext>
            </a:extLst>
          </p:cNvPr>
          <p:cNvSpPr>
            <a:spLocks noGrp="1"/>
          </p:cNvSpPr>
          <p:nvPr>
            <p:ph type="body" idx="1"/>
          </p:nvPr>
        </p:nvSpPr>
        <p:spPr>
          <a:xfrm>
            <a:off x="677335" y="5565362"/>
            <a:ext cx="8584652" cy="475999"/>
          </a:xfrm>
        </p:spPr>
        <p:txBody>
          <a:bodyPr/>
          <a:lstStyle/>
          <a:p>
            <a:pPr algn="ctr"/>
            <a:r>
              <a:rPr lang="en-US" dirty="0"/>
              <a:t>SHAP Explanation's</a:t>
            </a:r>
            <a:endParaRPr lang="en-IN" dirty="0"/>
          </a:p>
        </p:txBody>
      </p:sp>
      <p:pic>
        <p:nvPicPr>
          <p:cNvPr id="5" name="Picture 4">
            <a:extLst>
              <a:ext uri="{FF2B5EF4-FFF2-40B4-BE49-F238E27FC236}">
                <a16:creationId xmlns:a16="http://schemas.microsoft.com/office/drawing/2014/main" id="{CE794AEA-E980-2288-3048-3D4AA296A023}"/>
              </a:ext>
            </a:extLst>
          </p:cNvPr>
          <p:cNvPicPr>
            <a:picLocks noChangeAspect="1"/>
          </p:cNvPicPr>
          <p:nvPr/>
        </p:nvPicPr>
        <p:blipFill>
          <a:blip r:embed="rId2"/>
          <a:srcRect t="41269" b="28684"/>
          <a:stretch>
            <a:fillRect/>
          </a:stretch>
        </p:blipFill>
        <p:spPr>
          <a:xfrm>
            <a:off x="677335" y="550606"/>
            <a:ext cx="8677275" cy="1548274"/>
          </a:xfrm>
          <a:prstGeom prst="rect">
            <a:avLst/>
          </a:prstGeom>
        </p:spPr>
      </p:pic>
      <p:pic>
        <p:nvPicPr>
          <p:cNvPr id="8" name="Picture 7">
            <a:extLst>
              <a:ext uri="{FF2B5EF4-FFF2-40B4-BE49-F238E27FC236}">
                <a16:creationId xmlns:a16="http://schemas.microsoft.com/office/drawing/2014/main" id="{B194ED15-A581-A999-40BC-52D111E15FE5}"/>
              </a:ext>
            </a:extLst>
          </p:cNvPr>
          <p:cNvPicPr>
            <a:picLocks noChangeAspect="1"/>
          </p:cNvPicPr>
          <p:nvPr/>
        </p:nvPicPr>
        <p:blipFill>
          <a:blip r:embed="rId3"/>
          <a:stretch>
            <a:fillRect/>
          </a:stretch>
        </p:blipFill>
        <p:spPr>
          <a:xfrm>
            <a:off x="1518623" y="2198584"/>
            <a:ext cx="6677025" cy="3267075"/>
          </a:xfrm>
          <a:prstGeom prst="rect">
            <a:avLst/>
          </a:prstGeom>
        </p:spPr>
      </p:pic>
      <p:sp>
        <p:nvSpPr>
          <p:cNvPr id="9" name="TextBox 8">
            <a:extLst>
              <a:ext uri="{FF2B5EF4-FFF2-40B4-BE49-F238E27FC236}">
                <a16:creationId xmlns:a16="http://schemas.microsoft.com/office/drawing/2014/main" id="{EA4D611E-02FC-88CD-67DB-08F42ECB4EB4}"/>
              </a:ext>
            </a:extLst>
          </p:cNvPr>
          <p:cNvSpPr txBox="1"/>
          <p:nvPr/>
        </p:nvSpPr>
        <p:spPr>
          <a:xfrm>
            <a:off x="11592233" y="6488668"/>
            <a:ext cx="914400" cy="369332"/>
          </a:xfrm>
          <a:prstGeom prst="rect">
            <a:avLst/>
          </a:prstGeom>
          <a:noFill/>
        </p:spPr>
        <p:txBody>
          <a:bodyPr wrap="square" rtlCol="0">
            <a:spAutoFit/>
          </a:bodyPr>
          <a:lstStyle/>
          <a:p>
            <a:r>
              <a:rPr lang="en-US" dirty="0">
                <a:solidFill>
                  <a:schemeClr val="accent6">
                    <a:lumMod val="50000"/>
                  </a:schemeClr>
                </a:solidFill>
              </a:rPr>
              <a:t>Atah</a:t>
            </a:r>
            <a:endParaRPr lang="en-IN" dirty="0">
              <a:solidFill>
                <a:schemeClr val="accent6">
                  <a:lumMod val="50000"/>
                </a:schemeClr>
              </a:solidFill>
            </a:endParaRPr>
          </a:p>
        </p:txBody>
      </p:sp>
    </p:spTree>
    <p:extLst>
      <p:ext uri="{BB962C8B-B14F-4D97-AF65-F5344CB8AC3E}">
        <p14:creationId xmlns:p14="http://schemas.microsoft.com/office/powerpoint/2010/main" val="27447524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D8F2BD-D5D4-21F8-3689-C5D5CBE51A1F}"/>
              </a:ext>
            </a:extLst>
          </p:cNvPr>
          <p:cNvSpPr>
            <a:spLocks noGrp="1"/>
          </p:cNvSpPr>
          <p:nvPr>
            <p:ph type="title"/>
          </p:nvPr>
        </p:nvSpPr>
        <p:spPr/>
        <p:txBody>
          <a:bodyPr>
            <a:noAutofit/>
          </a:bodyPr>
          <a:lstStyle/>
          <a:p>
            <a:r>
              <a:rPr lang="en-US" dirty="0">
                <a:latin typeface="Times New Roman" panose="02020603050405020304" pitchFamily="18" charset="0"/>
                <a:cs typeface="Times New Roman" panose="02020603050405020304" pitchFamily="18" charset="0"/>
              </a:rPr>
              <a:t>Comparisons of ML techniques</a:t>
            </a:r>
            <a:br>
              <a:rPr lang="en-IN" dirty="0">
                <a:latin typeface="Times New Roman" panose="02020603050405020304" pitchFamily="18" charset="0"/>
                <a:cs typeface="Times New Roman" panose="02020603050405020304" pitchFamily="18" charset="0"/>
              </a:rPr>
            </a:br>
            <a:endParaRPr lang="en-IN" dirty="0">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56EB3FEB-7389-55A6-A19A-07025F6E9595}"/>
              </a:ext>
            </a:extLst>
          </p:cNvPr>
          <p:cNvSpPr txBox="1"/>
          <p:nvPr/>
        </p:nvSpPr>
        <p:spPr>
          <a:xfrm>
            <a:off x="10894141" y="6488668"/>
            <a:ext cx="1494503" cy="369332"/>
          </a:xfrm>
          <a:prstGeom prst="rect">
            <a:avLst/>
          </a:prstGeom>
          <a:noFill/>
        </p:spPr>
        <p:txBody>
          <a:bodyPr wrap="square" rtlCol="0">
            <a:spAutoFit/>
          </a:bodyPr>
          <a:lstStyle/>
          <a:p>
            <a:r>
              <a:rPr lang="en-US" dirty="0">
                <a:solidFill>
                  <a:schemeClr val="accent6">
                    <a:lumMod val="50000"/>
                  </a:schemeClr>
                </a:solidFill>
              </a:rPr>
              <a:t>Mustaqeem</a:t>
            </a:r>
            <a:endParaRPr lang="en-IN" dirty="0">
              <a:solidFill>
                <a:schemeClr val="accent6">
                  <a:lumMod val="50000"/>
                </a:schemeClr>
              </a:solidFill>
            </a:endParaRPr>
          </a:p>
        </p:txBody>
      </p:sp>
      <p:pic>
        <p:nvPicPr>
          <p:cNvPr id="8" name="Picture 7">
            <a:extLst>
              <a:ext uri="{FF2B5EF4-FFF2-40B4-BE49-F238E27FC236}">
                <a16:creationId xmlns:a16="http://schemas.microsoft.com/office/drawing/2014/main" id="{A1047552-3275-B481-2511-2972F5A658A3}"/>
              </a:ext>
            </a:extLst>
          </p:cNvPr>
          <p:cNvPicPr>
            <a:picLocks noChangeAspect="1"/>
          </p:cNvPicPr>
          <p:nvPr/>
        </p:nvPicPr>
        <p:blipFill>
          <a:blip r:embed="rId2"/>
          <a:stretch>
            <a:fillRect/>
          </a:stretch>
        </p:blipFill>
        <p:spPr>
          <a:xfrm>
            <a:off x="1484670" y="1446355"/>
            <a:ext cx="8596667" cy="4802045"/>
          </a:xfrm>
          <a:prstGeom prst="rect">
            <a:avLst/>
          </a:prstGeom>
        </p:spPr>
      </p:pic>
    </p:spTree>
    <p:extLst>
      <p:ext uri="{BB962C8B-B14F-4D97-AF65-F5344CB8AC3E}">
        <p14:creationId xmlns:p14="http://schemas.microsoft.com/office/powerpoint/2010/main" val="3963992776"/>
      </p:ext>
    </p:extLst>
  </p:cSld>
  <p:clrMapOvr>
    <a:masterClrMapping/>
  </p:clrMapOvr>
  <mc:AlternateContent xmlns:mc="http://schemas.openxmlformats.org/markup-compatibility/2006" xmlns:p14="http://schemas.microsoft.com/office/powerpoint/2010/main">
    <mc:Choice Requires="p14">
      <p:transition spd="slow" p14:dur="800">
        <p14:flythrough/>
      </p:transition>
    </mc:Choice>
    <mc:Fallback xmlns="">
      <p:transition spd="slow">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315D34-931F-4231-41F6-DF942B3D8F6C}"/>
              </a:ext>
            </a:extLst>
          </p:cNvPr>
          <p:cNvSpPr>
            <a:spLocks noGrp="1"/>
          </p:cNvSpPr>
          <p:nvPr>
            <p:ph type="title"/>
          </p:nvPr>
        </p:nvSpPr>
        <p:spPr/>
        <p:txBody>
          <a:bodyPr/>
          <a:lstStyle/>
          <a:p>
            <a:pPr algn="ctr"/>
            <a:r>
              <a:rPr lang="en-US" dirty="0">
                <a:latin typeface="Times New Roman" panose="02020603050405020304" pitchFamily="18" charset="0"/>
                <a:cs typeface="Times New Roman" panose="02020603050405020304" pitchFamily="18" charset="0"/>
              </a:rPr>
              <a:t>9. Conclusion</a:t>
            </a:r>
            <a:endParaRPr lang="en-IN" dirty="0">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2FAA1287-1081-403C-C886-7EED2F993DEB}"/>
              </a:ext>
            </a:extLst>
          </p:cNvPr>
          <p:cNvSpPr>
            <a:spLocks noGrp="1"/>
          </p:cNvSpPr>
          <p:nvPr>
            <p:ph idx="1"/>
          </p:nvPr>
        </p:nvSpPr>
        <p:spPr/>
        <p:txBody>
          <a:bodyPr/>
          <a:lstStyle/>
          <a:p>
            <a:r>
              <a:rPr lang="en-US" dirty="0"/>
              <a:t>Our ML framework successfully establishes a highly reliable method for multi-class MS subtype classification.</a:t>
            </a:r>
          </a:p>
          <a:p>
            <a:r>
              <a:rPr lang="en-US" dirty="0"/>
              <a:t>Introducing XAI bridges the critical gap between complex algorithms and practical, everyday clinical trust.</a:t>
            </a:r>
          </a:p>
          <a:p>
            <a:r>
              <a:rPr lang="en-US" dirty="0"/>
              <a:t>This transparent classification system will definitively pave the way for faster, highly personalized neurological care.</a:t>
            </a:r>
          </a:p>
          <a:p>
            <a:endParaRPr lang="en-IN" dirty="0"/>
          </a:p>
        </p:txBody>
      </p:sp>
      <p:pic>
        <p:nvPicPr>
          <p:cNvPr id="4" name="Picture 3">
            <a:extLst>
              <a:ext uri="{FF2B5EF4-FFF2-40B4-BE49-F238E27FC236}">
                <a16:creationId xmlns:a16="http://schemas.microsoft.com/office/drawing/2014/main" id="{346F6ED2-8B06-3EA7-13A2-88CBDFC0E99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196052" y="298147"/>
            <a:ext cx="1526020" cy="1776017"/>
          </a:xfrm>
          <a:prstGeom prst="rect">
            <a:avLst/>
          </a:prstGeom>
        </p:spPr>
      </p:pic>
      <p:sp>
        <p:nvSpPr>
          <p:cNvPr id="6" name="TextBox 5">
            <a:extLst>
              <a:ext uri="{FF2B5EF4-FFF2-40B4-BE49-F238E27FC236}">
                <a16:creationId xmlns:a16="http://schemas.microsoft.com/office/drawing/2014/main" id="{265C0DD5-57AA-A97B-B045-D12B952A329E}"/>
              </a:ext>
            </a:extLst>
          </p:cNvPr>
          <p:cNvSpPr txBox="1"/>
          <p:nvPr/>
        </p:nvSpPr>
        <p:spPr>
          <a:xfrm>
            <a:off x="11202191" y="6488668"/>
            <a:ext cx="1039761" cy="369332"/>
          </a:xfrm>
          <a:prstGeom prst="rect">
            <a:avLst/>
          </a:prstGeom>
          <a:noFill/>
        </p:spPr>
        <p:txBody>
          <a:bodyPr wrap="square">
            <a:spAutoFit/>
          </a:bodyPr>
          <a:lstStyle/>
          <a:p>
            <a:pPr marL="0" algn="l" rtl="0" eaLnBrk="1" latinLnBrk="0" hangingPunct="1">
              <a:buNone/>
            </a:pPr>
            <a:r>
              <a:rPr lang="en-US" sz="1800" kern="1200" dirty="0">
                <a:solidFill>
                  <a:srgbClr val="6D6834"/>
                </a:solidFill>
                <a:effectLst/>
                <a:latin typeface="Trebuchet MS" panose="020B0603020202020204" pitchFamily="34" charset="0"/>
                <a:ea typeface="+mn-ea"/>
                <a:cs typeface="+mn-cs"/>
              </a:rPr>
              <a:t>Mustafa</a:t>
            </a:r>
            <a:endParaRPr lang="en-IN" dirty="0">
              <a:effectLst/>
            </a:endParaRPr>
          </a:p>
        </p:txBody>
      </p:sp>
    </p:spTree>
    <p:extLst>
      <p:ext uri="{BB962C8B-B14F-4D97-AF65-F5344CB8AC3E}">
        <p14:creationId xmlns:p14="http://schemas.microsoft.com/office/powerpoint/2010/main" val="1499873630"/>
      </p:ext>
    </p:extLst>
  </p:cSld>
  <p:clrMapOvr>
    <a:masterClrMapping/>
  </p:clrMapOvr>
  <mc:AlternateContent xmlns:mc="http://schemas.openxmlformats.org/markup-compatibility/2006" xmlns:p14="http://schemas.microsoft.com/office/powerpoint/2010/main">
    <mc:Choice Requires="p14">
      <p:transition spd="slow" p14:dur="800">
        <p14:flythrough/>
      </p:transition>
    </mc:Choice>
    <mc:Fallback xmlns="">
      <p:transition spd="slow">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20374C-9468-D3D2-C361-4AFBD3F11970}"/>
              </a:ext>
            </a:extLst>
          </p:cNvPr>
          <p:cNvSpPr>
            <a:spLocks noGrp="1"/>
          </p:cNvSpPr>
          <p:nvPr>
            <p:ph type="title"/>
          </p:nvPr>
        </p:nvSpPr>
        <p:spPr/>
        <p:txBody>
          <a:bodyPr/>
          <a:lstStyle/>
          <a:p>
            <a:pPr algn="ctr"/>
            <a:r>
              <a:rPr lang="en-US" dirty="0">
                <a:latin typeface="Times New Roman" panose="02020603050405020304" pitchFamily="18" charset="0"/>
                <a:cs typeface="Times New Roman" panose="02020603050405020304" pitchFamily="18" charset="0"/>
              </a:rPr>
              <a:t>10.References</a:t>
            </a:r>
            <a:endParaRPr lang="en-IN" dirty="0"/>
          </a:p>
        </p:txBody>
      </p:sp>
      <p:sp>
        <p:nvSpPr>
          <p:cNvPr id="3" name="Content Placeholder 2">
            <a:extLst>
              <a:ext uri="{FF2B5EF4-FFF2-40B4-BE49-F238E27FC236}">
                <a16:creationId xmlns:a16="http://schemas.microsoft.com/office/drawing/2014/main" id="{CFB387AC-ED71-09A9-4152-80109D41BD66}"/>
              </a:ext>
            </a:extLst>
          </p:cNvPr>
          <p:cNvSpPr>
            <a:spLocks noGrp="1"/>
          </p:cNvSpPr>
          <p:nvPr>
            <p:ph idx="1"/>
          </p:nvPr>
        </p:nvSpPr>
        <p:spPr>
          <a:xfrm>
            <a:off x="677333" y="1386348"/>
            <a:ext cx="10423286" cy="5471651"/>
          </a:xfrm>
        </p:spPr>
        <p:txBody>
          <a:bodyPr>
            <a:normAutofit/>
          </a:bodyPr>
          <a:lstStyle/>
          <a:p>
            <a:pPr algn="just"/>
            <a:r>
              <a:rPr lang="en-US" dirty="0"/>
              <a:t>Lublin, F.D., et al. (2014). "Defining the clinical course of multiple sclerosis: The 2013 revisions." </a:t>
            </a:r>
            <a:r>
              <a:rPr lang="en-US" i="1" dirty="0"/>
              <a:t>Neurology</a:t>
            </a:r>
            <a:r>
              <a:rPr lang="en-US" dirty="0"/>
              <a:t>, 83(3), 278-286. 🔗 </a:t>
            </a:r>
            <a:r>
              <a:rPr lang="en-US" b="1" dirty="0">
                <a:hlinkClick r:id="rId2"/>
              </a:rPr>
              <a:t>https://doi.org/10.1212/WNL.0000000000000560</a:t>
            </a:r>
            <a:endParaRPr lang="en-US" b="1" dirty="0"/>
          </a:p>
          <a:p>
            <a:pPr algn="just"/>
            <a:r>
              <a:rPr lang="en-US" dirty="0"/>
              <a:t>Thompson, A.J., et al. (2018). "Diagnosis of multiple sclerosis: 2017 revisions of the McDonald criteria." </a:t>
            </a:r>
            <a:r>
              <a:rPr lang="en-US" i="1" dirty="0"/>
              <a:t>The Lancet Neurology</a:t>
            </a:r>
            <a:r>
              <a:rPr lang="en-US" dirty="0"/>
              <a:t>, 17(2), 162-173. </a:t>
            </a:r>
          </a:p>
          <a:p>
            <a:pPr marL="0" indent="0" algn="just">
              <a:buNone/>
            </a:pPr>
            <a:r>
              <a:rPr lang="en-US" dirty="0"/>
              <a:t>		🔗 </a:t>
            </a:r>
            <a:r>
              <a:rPr lang="en-US" b="1" dirty="0">
                <a:hlinkClick r:id="rId3"/>
              </a:rPr>
              <a:t>https://doi.org/10.1016/S1474-4422(17)30470-2</a:t>
            </a:r>
            <a:endParaRPr lang="en-US" b="1" dirty="0"/>
          </a:p>
          <a:p>
            <a:pPr algn="just"/>
            <a:r>
              <a:rPr lang="en-US" dirty="0"/>
              <a:t>Chen, T., &amp; </a:t>
            </a:r>
            <a:r>
              <a:rPr lang="en-US" dirty="0" err="1"/>
              <a:t>Guestrin</a:t>
            </a:r>
            <a:r>
              <a:rPr lang="en-US" dirty="0"/>
              <a:t>, C. (2016). "XGBoost: A Scalable Tree Boosting System." </a:t>
            </a:r>
            <a:r>
              <a:rPr lang="en-US" i="1" dirty="0"/>
              <a:t>Proceedings of the 22nd ACM SIGKDD</a:t>
            </a:r>
            <a:r>
              <a:rPr lang="en-US" dirty="0"/>
              <a:t>, 785-794. 🔗 </a:t>
            </a:r>
            <a:r>
              <a:rPr lang="en-US" b="1" dirty="0">
                <a:hlinkClick r:id="rId4"/>
              </a:rPr>
              <a:t>https://doi.org/10.1145/2939672.2939785</a:t>
            </a:r>
            <a:endParaRPr lang="en-US" b="1" dirty="0"/>
          </a:p>
          <a:p>
            <a:pPr algn="just"/>
            <a:r>
              <a:rPr lang="en-US" dirty="0" err="1"/>
              <a:t>Mothilal</a:t>
            </a:r>
            <a:r>
              <a:rPr lang="en-US" dirty="0"/>
              <a:t>, R.K., Sharma, A., &amp; Tan, C. (2020). "Explaining Machine Learning Classifiers through Diverse Counterfactual Explanations." </a:t>
            </a:r>
            <a:r>
              <a:rPr lang="en-US" i="1" dirty="0"/>
              <a:t>ACM Conference on Fairness, Accountability, and Transparency (FAT*).</a:t>
            </a:r>
            <a:r>
              <a:rPr lang="en-US" dirty="0"/>
              <a:t> 🔗 </a:t>
            </a:r>
            <a:r>
              <a:rPr lang="en-US" b="1" dirty="0">
                <a:hlinkClick r:id="rId5"/>
              </a:rPr>
              <a:t>https://arxiv.org/abs/1905.07697</a:t>
            </a:r>
            <a:endParaRPr lang="en-US" b="1" dirty="0"/>
          </a:p>
          <a:p>
            <a:pPr algn="just"/>
            <a:r>
              <a:rPr lang="en-US" dirty="0"/>
              <a:t>Lundberg, S.M., &amp; Lee, S.I. (2017). "A Unified Approach to Interpreting Model Predictions." </a:t>
            </a:r>
            <a:r>
              <a:rPr lang="en-US" i="1" dirty="0"/>
              <a:t>Advances in Neural Information Processing Systems (</a:t>
            </a:r>
            <a:r>
              <a:rPr lang="en-US" i="1" dirty="0" err="1"/>
              <a:t>NeurIPS</a:t>
            </a:r>
            <a:r>
              <a:rPr lang="en-US" i="1" dirty="0"/>
              <a:t>)</a:t>
            </a:r>
            <a:r>
              <a:rPr lang="en-US" dirty="0"/>
              <a:t>, 30. 🔗 </a:t>
            </a:r>
            <a:r>
              <a:rPr lang="en-US" b="1" dirty="0">
                <a:hlinkClick r:id="rId6"/>
              </a:rPr>
              <a:t>https://arxiv.org/abs/1705.07874</a:t>
            </a:r>
            <a:endParaRPr lang="en-US" b="1" dirty="0"/>
          </a:p>
          <a:p>
            <a:pPr algn="just"/>
            <a:r>
              <a:rPr lang="en-US" dirty="0"/>
              <a:t>Pedregosa, F., et al. (2011). "Scikit-learn: Machine Learning in Python." </a:t>
            </a:r>
            <a:r>
              <a:rPr lang="en-US" i="1" dirty="0"/>
              <a:t>Journal of Machine Learning Research</a:t>
            </a:r>
            <a:r>
              <a:rPr lang="en-US" dirty="0"/>
              <a:t>, 12, 2825-2830. 🔗 </a:t>
            </a:r>
            <a:r>
              <a:rPr lang="en-US" b="1" dirty="0">
                <a:hlinkClick r:id="rId7"/>
              </a:rPr>
              <a:t>https://jmlr.org/papers/v12/pedregosa11a.html</a:t>
            </a:r>
            <a:endParaRPr lang="en-IN" dirty="0"/>
          </a:p>
        </p:txBody>
      </p:sp>
      <p:sp>
        <p:nvSpPr>
          <p:cNvPr id="4" name="TextBox 3">
            <a:extLst>
              <a:ext uri="{FF2B5EF4-FFF2-40B4-BE49-F238E27FC236}">
                <a16:creationId xmlns:a16="http://schemas.microsoft.com/office/drawing/2014/main" id="{74FBDEDA-3F20-5C1F-A663-6767C50BE344}"/>
              </a:ext>
            </a:extLst>
          </p:cNvPr>
          <p:cNvSpPr txBox="1"/>
          <p:nvPr/>
        </p:nvSpPr>
        <p:spPr>
          <a:xfrm>
            <a:off x="11514667" y="6488667"/>
            <a:ext cx="914400" cy="369332"/>
          </a:xfrm>
          <a:prstGeom prst="rect">
            <a:avLst/>
          </a:prstGeom>
          <a:noFill/>
        </p:spPr>
        <p:txBody>
          <a:bodyPr wrap="square" rtlCol="0">
            <a:spAutoFit/>
          </a:bodyPr>
          <a:lstStyle/>
          <a:p>
            <a:r>
              <a:rPr lang="en-US" dirty="0">
                <a:solidFill>
                  <a:schemeClr val="accent6">
                    <a:lumMod val="50000"/>
                  </a:schemeClr>
                </a:solidFill>
              </a:rPr>
              <a:t>Atha</a:t>
            </a:r>
            <a:endParaRPr lang="en-IN" dirty="0">
              <a:solidFill>
                <a:schemeClr val="accent6">
                  <a:lumMod val="50000"/>
                </a:schemeClr>
              </a:solidFill>
            </a:endParaRPr>
          </a:p>
        </p:txBody>
      </p:sp>
    </p:spTree>
    <p:extLst>
      <p:ext uri="{BB962C8B-B14F-4D97-AF65-F5344CB8AC3E}">
        <p14:creationId xmlns:p14="http://schemas.microsoft.com/office/powerpoint/2010/main" val="207321304"/>
      </p:ext>
    </p:extLst>
  </p:cSld>
  <p:clrMapOvr>
    <a:masterClrMapping/>
  </p:clrMapOvr>
  <mc:AlternateContent xmlns:mc="http://schemas.openxmlformats.org/markup-compatibility/2006" xmlns:p14="http://schemas.microsoft.com/office/powerpoint/2010/main">
    <mc:Choice Requires="p14">
      <p:transition spd="slow" p14:dur="800">
        <p14:flythrough/>
      </p:transition>
    </mc:Choice>
    <mc:Fallback xmlns="">
      <p:transition spd="slow">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F06AA1-E6EE-B4E9-8C27-F1C634825CFA}"/>
              </a:ext>
            </a:extLst>
          </p:cNvPr>
          <p:cNvSpPr>
            <a:spLocks noGrp="1"/>
          </p:cNvSpPr>
          <p:nvPr>
            <p:ph type="title"/>
          </p:nvPr>
        </p:nvSpPr>
        <p:spPr>
          <a:xfrm>
            <a:off x="343037" y="2357306"/>
            <a:ext cx="8596668" cy="2097248"/>
          </a:xfrm>
        </p:spPr>
        <p:txBody>
          <a:bodyPr>
            <a:noAutofit/>
          </a:bodyPr>
          <a:lstStyle/>
          <a:p>
            <a:pPr algn="ctr"/>
            <a:r>
              <a:rPr lang="en-US" sz="11200" dirty="0">
                <a:latin typeface="Times New Roman" panose="02020603050405020304" pitchFamily="18" charset="0"/>
                <a:cs typeface="Times New Roman" panose="02020603050405020304" pitchFamily="18" charset="0"/>
              </a:rPr>
              <a:t>Thank You</a:t>
            </a:r>
            <a:endParaRPr lang="en-IN" sz="11200" dirty="0">
              <a:latin typeface="Times New Roman" panose="02020603050405020304" pitchFamily="18" charset="0"/>
              <a:cs typeface="Times New Roman" panose="02020603050405020304" pitchFamily="18" charset="0"/>
            </a:endParaRPr>
          </a:p>
        </p:txBody>
      </p:sp>
      <p:pic>
        <p:nvPicPr>
          <p:cNvPr id="3" name="Picture 2">
            <a:extLst>
              <a:ext uri="{FF2B5EF4-FFF2-40B4-BE49-F238E27FC236}">
                <a16:creationId xmlns:a16="http://schemas.microsoft.com/office/drawing/2014/main" id="{EA4FA7FC-86AA-EAFA-8388-F3D17674532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196052" y="288315"/>
            <a:ext cx="1526020" cy="1776017"/>
          </a:xfrm>
          <a:prstGeom prst="rect">
            <a:avLst/>
          </a:prstGeom>
        </p:spPr>
      </p:pic>
    </p:spTree>
    <p:extLst>
      <p:ext uri="{BB962C8B-B14F-4D97-AF65-F5344CB8AC3E}">
        <p14:creationId xmlns:p14="http://schemas.microsoft.com/office/powerpoint/2010/main" val="2904906402"/>
      </p:ext>
    </p:extLst>
  </p:cSld>
  <p:clrMapOvr>
    <a:masterClrMapping/>
  </p:clrMapOvr>
  <mc:AlternateContent xmlns:mc="http://schemas.openxmlformats.org/markup-compatibility/2006" xmlns:p14="http://schemas.microsoft.com/office/powerpoint/2010/main">
    <mc:Choice Requires="p14">
      <p:transition spd="slow" p14:dur="800">
        <p14:flythrough/>
      </p:transition>
    </mc:Choice>
    <mc:Fallback xmlns="">
      <p:transition spd="slow">
        <p:fade/>
      </p:transition>
    </mc:Fallback>
  </mc:AlternateContent>
</p:sld>
</file>

<file path=ppt/theme/theme1.xml><?xml version="1.0" encoding="utf-8"?>
<a:theme xmlns:a="http://schemas.openxmlformats.org/drawingml/2006/main" name="Facet">
  <a:themeElements>
    <a:clrScheme name="Orange">
      <a:dk1>
        <a:srgbClr val="000000"/>
      </a:dk1>
      <a:lt1>
        <a:sysClr val="window" lastClr="FFFFFF"/>
      </a:lt1>
      <a:dk2>
        <a:srgbClr val="637052"/>
      </a:dk2>
      <a:lt2>
        <a:srgbClr val="CCDDEA"/>
      </a:lt2>
      <a:accent1>
        <a:srgbClr val="E48312"/>
      </a:accent1>
      <a:accent2>
        <a:srgbClr val="BD582C"/>
      </a:accent2>
      <a:accent3>
        <a:srgbClr val="865640"/>
      </a:accent3>
      <a:accent4>
        <a:srgbClr val="9B8357"/>
      </a:accent4>
      <a:accent5>
        <a:srgbClr val="C2BC80"/>
      </a:accent5>
      <a:accent6>
        <a:srgbClr val="94A088"/>
      </a:accent6>
      <a:hlink>
        <a:srgbClr val="2998E3"/>
      </a:hlink>
      <a:folHlink>
        <a:srgbClr val="8C8C8C"/>
      </a:folHlink>
    </a:clrScheme>
    <a:fontScheme name="Facet">
      <a:majorFont>
        <a:latin typeface="Trebuchet MS" panose="020B0603020202020204"/>
        <a:ea typeface=""/>
        <a:cs typeface=""/>
        <a:font script="Jpan" typeface="メイリオ"/>
        <a:font script="Hang" typeface="맑은 고딕"/>
        <a:font script="Hans" typeface="方正姚体"/>
        <a:font script="Hant" typeface="微軟正黑體"/>
        <a:font script="Arab" typeface="Tahoma"/>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rebuchet MS" panose="020B0603020202020204"/>
        <a:ea typeface=""/>
        <a:cs typeface=""/>
        <a:font script="Jpan" typeface="メイリオ"/>
        <a:font script="Hang" typeface="HY그래픽M"/>
        <a:font script="Hans" typeface="华文新魏"/>
        <a:font script="Hant" typeface="微軟正黑體"/>
        <a:font script="Arab" typeface="Tahoma"/>
        <a:font script="Hebr" typeface="Gisha"/>
        <a:font script="Thai" typeface="Iris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Facet">
      <a:fillStyleLst>
        <a:solidFill>
          <a:schemeClr val="phClr"/>
        </a:solidFill>
        <a:gradFill rotWithShape="1">
          <a:gsLst>
            <a:gs pos="0">
              <a:schemeClr val="phClr">
                <a:tint val="65000"/>
                <a:lumMod val="110000"/>
              </a:schemeClr>
            </a:gs>
            <a:gs pos="88000">
              <a:schemeClr val="phClr">
                <a:tint val="90000"/>
              </a:schemeClr>
            </a:gs>
          </a:gsLst>
          <a:lin ang="5400000" scaled="0"/>
        </a:gradFill>
        <a:gradFill rotWithShape="1">
          <a:gsLst>
            <a:gs pos="0">
              <a:schemeClr val="phClr">
                <a:tint val="96000"/>
                <a:lumMod val="100000"/>
              </a:schemeClr>
            </a:gs>
            <a:gs pos="78000">
              <a:schemeClr val="phClr">
                <a:shade val="94000"/>
                <a:lumMod val="94000"/>
              </a:schemeClr>
            </a:gs>
          </a:gsLst>
          <a:lin ang="5400000" scaled="0"/>
        </a:gradFill>
      </a:fillStyleLst>
      <a:lnStyleLst>
        <a:ln w="12700"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35000"/>
              </a:srgbClr>
            </a:outerShdw>
          </a:effectLst>
        </a:effectStyle>
        <a:effectStyle>
          <a:effectLst>
            <a:outerShdw blurRad="50800" dist="38100" dir="5400000" rotWithShape="0">
              <a:srgbClr val="000000">
                <a:alpha val="35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0000"/>
                <a:lumMod val="104000"/>
              </a:schemeClr>
            </a:gs>
            <a:gs pos="94000">
              <a:schemeClr val="phClr">
                <a:shade val="96000"/>
                <a:lumMod val="82000"/>
              </a:schemeClr>
            </a:gs>
          </a:gsLst>
          <a:lin ang="5400000" scaled="0"/>
        </a:gradFill>
        <a:gradFill rotWithShape="1">
          <a:gsLst>
            <a:gs pos="0">
              <a:schemeClr val="phClr">
                <a:tint val="90000"/>
                <a:lumMod val="110000"/>
              </a:schemeClr>
            </a:gs>
            <a:gs pos="100000">
              <a:schemeClr val="phClr">
                <a:shade val="94000"/>
                <a:lumMod val="9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Facet" id="{C0C680CD-088A-49FC-A102-D699147F32B2}" vid="{0B5AB586-D108-4FC1-8368-649FE654B894}"/>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539</TotalTime>
  <Words>1121</Words>
  <Application>Microsoft Office PowerPoint</Application>
  <PresentationFormat>Widescreen</PresentationFormat>
  <Paragraphs>105</Paragraphs>
  <Slides>23</Slides>
  <Notes>0</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23</vt:i4>
      </vt:variant>
    </vt:vector>
  </HeadingPairs>
  <TitlesOfParts>
    <vt:vector size="30" baseType="lpstr">
      <vt:lpstr>Arial</vt:lpstr>
      <vt:lpstr>Calibri</vt:lpstr>
      <vt:lpstr>Times New Roman</vt:lpstr>
      <vt:lpstr>Trebuchet MS</vt:lpstr>
      <vt:lpstr>Wingdings</vt:lpstr>
      <vt:lpstr>Wingdings 3</vt:lpstr>
      <vt:lpstr>Facet</vt:lpstr>
      <vt:lpstr>PowerPoint Presentation</vt:lpstr>
      <vt:lpstr>Contents</vt:lpstr>
      <vt:lpstr>Abstract</vt:lpstr>
      <vt:lpstr>2. Introduction</vt:lpstr>
      <vt:lpstr>3. Literature Survey</vt:lpstr>
      <vt:lpstr>4. Existing System</vt:lpstr>
      <vt:lpstr>4.1. Limitations of Existing System</vt:lpstr>
      <vt:lpstr>5. Proposed System</vt:lpstr>
      <vt:lpstr>5.1.  Problem Statement</vt:lpstr>
      <vt:lpstr>5.2.  Objectives</vt:lpstr>
      <vt:lpstr>5.3.  Advantages of Proposed System</vt:lpstr>
      <vt:lpstr>6. Methodology</vt:lpstr>
      <vt:lpstr>6.1.  System Architecture</vt:lpstr>
      <vt:lpstr>6.2.  Technology Used </vt:lpstr>
      <vt:lpstr>6.3. Datasets</vt:lpstr>
      <vt:lpstr>7. Implementation</vt:lpstr>
      <vt:lpstr>8.Results </vt:lpstr>
      <vt:lpstr>PowerPoint Presentation</vt:lpstr>
      <vt:lpstr>PowerPoint Presentation</vt:lpstr>
      <vt:lpstr>Comparisons of ML techniques </vt:lpstr>
      <vt:lpstr>9. Conclusion</vt:lpstr>
      <vt:lpstr>10.References</vt:lpstr>
      <vt:lpstr>Thank You</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Mustaqeem Uddin</dc:creator>
  <cp:lastModifiedBy>mohammedmustafa60@outlook.com</cp:lastModifiedBy>
  <cp:revision>23</cp:revision>
  <dcterms:modified xsi:type="dcterms:W3CDTF">2026-04-21T09:21:37Z</dcterms:modified>
</cp:coreProperties>
</file>