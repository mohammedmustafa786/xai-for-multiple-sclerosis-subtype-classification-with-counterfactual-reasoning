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1" r:id="rId6"/>
    <p:sldId id="263" r:id="rId7"/>
    <p:sldId id="264" r:id="rId8"/>
    <p:sldId id="265" r:id="rId9"/>
    <p:sldId id="266" r:id="rId10"/>
    <p:sldId id="267" r:id="rId11"/>
    <p:sldId id="268" r:id="rId12"/>
    <p:sldId id="269" r:id="rId13"/>
    <p:sldId id="270" r:id="rId14"/>
    <p:sldId id="271" r:id="rId15"/>
    <p:sldId id="272" r:id="rId16"/>
    <p:sldId id="275" r:id="rId17"/>
    <p:sldId id="280" r:id="rId18"/>
    <p:sldId id="283" r:id="rId19"/>
    <p:sldId id="284" r:id="rId20"/>
    <p:sldId id="281" r:id="rId21"/>
    <p:sldId id="273" r:id="rId22"/>
    <p:sldId id="282" r:id="rId23"/>
    <p:sldId id="274" r:id="rId24"/>
  </p:sldIdLst>
  <p:sldSz cx="12192000" cy="6858000"/>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F33DAA-EA3A-41D3-9E8E-682FC69F2A0C}" type="datetimeFigureOut">
              <a:rPr lang="en-IN" smtClean="0"/>
              <a:t>21-04-2026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24826D-9F3B-4342-B9AE-F4F8EEAD7BAC}" type="slidenum">
              <a:rPr lang="en-IN" smtClean="0"/>
              <a:t>‹#›</a:t>
            </a:fld>
            <a:endParaRPr lang="en-IN"/>
          </a:p>
        </p:txBody>
      </p:sp>
    </p:spTree>
    <p:extLst>
      <p:ext uri="{BB962C8B-B14F-4D97-AF65-F5344CB8AC3E}">
        <p14:creationId xmlns:p14="http://schemas.microsoft.com/office/powerpoint/2010/main" val="2515455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AE96B6-13BC-4AA4-9D0C-61E15EC6F2F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104858181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AE96B6-13BC-4AA4-9D0C-61E15EC6F2F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292335358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AE96B6-13BC-4AA4-9D0C-61E15EC6F2F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327478958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AE96B6-13BC-4AA4-9D0C-61E15EC6F2FB}" type="datetimeFigureOut">
              <a:rPr lang="en-IN" smtClean="0"/>
              <a:t>21-04-2026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152827830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AE96B6-13BC-4AA4-9D0C-61E15EC6F2FB}" type="datetimeFigureOut">
              <a:rPr lang="en-IN" smtClean="0"/>
              <a:t>21-04-2026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315792693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AE96B6-13BC-4AA4-9D0C-61E15EC6F2FB}" type="datetimeFigureOut">
              <a:rPr lang="en-IN" smtClean="0"/>
              <a:t>21-04-2026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98719517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AE96B6-13BC-4AA4-9D0C-61E15EC6F2FB}" type="datetimeFigureOut">
              <a:rPr lang="en-IN" smtClean="0"/>
              <a:t>21-04-2026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41207148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9AE96B6-13BC-4AA4-9D0C-61E15EC6F2FB}" type="datetimeFigureOut">
              <a:rPr lang="en-IN" smtClean="0"/>
              <a:t>21-04-2026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427594404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A6A112F-43FE-4C07-B635-84E7E8C91AA0}" type="slidenum">
              <a:rPr lang="en-IN" smtClean="0"/>
              <a:t>‹#›</a:t>
            </a:fld>
            <a:endParaRPr lang="en-IN"/>
          </a:p>
        </p:txBody>
      </p:sp>
      <p:sp>
        <p:nvSpPr>
          <p:cNvPr id="5" name="Date Placeholder 4"/>
          <p:cNvSpPr>
            <a:spLocks noGrp="1"/>
          </p:cNvSpPr>
          <p:nvPr>
            <p:ph type="dt" sz="half" idx="10"/>
          </p:nvPr>
        </p:nvSpPr>
        <p:spPr/>
        <p:txBody>
          <a:bodyPr/>
          <a:lstStyle/>
          <a:p>
            <a:fld id="{69AE96B6-13BC-4AA4-9D0C-61E15EC6F2FB}" type="datetimeFigureOut">
              <a:rPr lang="en-IN" smtClean="0"/>
              <a:t>21-04-2026</a:t>
            </a:fld>
            <a:endParaRPr lang="en-IN"/>
          </a:p>
        </p:txBody>
      </p:sp>
    </p:spTree>
    <p:extLst>
      <p:ext uri="{BB962C8B-B14F-4D97-AF65-F5344CB8AC3E}">
        <p14:creationId xmlns:p14="http://schemas.microsoft.com/office/powerpoint/2010/main" val="179035879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AE96B6-13BC-4AA4-9D0C-61E15EC6F2F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22396168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AE96B6-13BC-4AA4-9D0C-61E15EC6F2F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6A112F-43FE-4C07-B635-84E7E8C91AA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6992005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AE96B6-13BC-4AA4-9D0C-61E15EC6F2F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3837181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AE96B6-13BC-4AA4-9D0C-61E15EC6F2F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6A112F-43FE-4C07-B635-84E7E8C91AA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9805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AE96B6-13BC-4AA4-9D0C-61E15EC6F2F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22690211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AE96B6-13BC-4AA4-9D0C-61E15EC6F2F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256660189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AE96B6-13BC-4AA4-9D0C-61E15EC6F2FB}" type="datetimeFigureOut">
              <a:rPr lang="en-IN" smtClean="0"/>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A6A112F-43FE-4C07-B635-84E7E8C91AA0}" type="slidenum">
              <a:rPr lang="en-IN" smtClean="0"/>
              <a:t>‹#›</a:t>
            </a:fld>
            <a:endParaRPr lang="en-IN"/>
          </a:p>
        </p:txBody>
      </p:sp>
    </p:spTree>
    <p:extLst>
      <p:ext uri="{BB962C8B-B14F-4D97-AF65-F5344CB8AC3E}">
        <p14:creationId xmlns:p14="http://schemas.microsoft.com/office/powerpoint/2010/main" val="368626066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9AE96B6-13BC-4AA4-9D0C-61E15EC6F2FB}" type="datetimeFigureOut">
              <a:rPr lang="en-IN" smtClean="0"/>
              <a:t>21-04-2026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A6A112F-43FE-4C07-B635-84E7E8C91AA0}" type="slidenum">
              <a:rPr lang="en-IN" smtClean="0"/>
              <a:t>‹#›</a:t>
            </a:fld>
            <a:endParaRPr lang="en-IN"/>
          </a:p>
        </p:txBody>
      </p:sp>
    </p:spTree>
    <p:extLst>
      <p:ext uri="{BB962C8B-B14F-4D97-AF65-F5344CB8AC3E}">
        <p14:creationId xmlns:p14="http://schemas.microsoft.com/office/powerpoint/2010/main" val="1651608455"/>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Lst>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016/S1474-4422(17)30470-2" TargetMode="External"/><Relationship Id="rId7" Type="http://schemas.openxmlformats.org/officeDocument/2006/relationships/hyperlink" Target="https://jmlr.org/papers/v12/pedregosa11a.html" TargetMode="External"/><Relationship Id="rId2" Type="http://schemas.openxmlformats.org/officeDocument/2006/relationships/hyperlink" Target="https://doi.org/10.1212/WNL.0000000000000560" TargetMode="External"/><Relationship Id="rId1" Type="http://schemas.openxmlformats.org/officeDocument/2006/relationships/slideLayout" Target="../slideLayouts/slideLayout2.xml"/><Relationship Id="rId6" Type="http://schemas.openxmlformats.org/officeDocument/2006/relationships/hyperlink" Target="https://arxiv.org/abs/1705.07874" TargetMode="External"/><Relationship Id="rId5" Type="http://schemas.openxmlformats.org/officeDocument/2006/relationships/hyperlink" Target="https://arxiv.org/abs/1905.07697" TargetMode="External"/><Relationship Id="rId4" Type="http://schemas.openxmlformats.org/officeDocument/2006/relationships/hyperlink" Target="https://doi.org/10.1145/2939672.2939785"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D1BADFD4-15AB-815E-227D-5C2F4E15DC3D}"/>
              </a:ext>
            </a:extLst>
          </p:cNvPr>
          <p:cNvSpPr txBox="1"/>
          <p:nvPr/>
        </p:nvSpPr>
        <p:spPr>
          <a:xfrm>
            <a:off x="5638800" y="2974258"/>
            <a:ext cx="914400" cy="914400"/>
          </a:xfrm>
          <a:prstGeom prst="rect">
            <a:avLst/>
          </a:prstGeom>
          <a:noFill/>
        </p:spPr>
        <p:txBody>
          <a:bodyPr wrap="square" rtlCol="0">
            <a:spAutoFit/>
          </a:bodyPr>
          <a:lstStyle/>
          <a:p>
            <a:endParaRPr lang="en-IN" dirty="0"/>
          </a:p>
        </p:txBody>
      </p:sp>
      <p:sp>
        <p:nvSpPr>
          <p:cNvPr id="12" name="TextBox 11">
            <a:extLst>
              <a:ext uri="{FF2B5EF4-FFF2-40B4-BE49-F238E27FC236}">
                <a16:creationId xmlns:a16="http://schemas.microsoft.com/office/drawing/2014/main" id="{0426E4EE-BD7C-A14F-FA40-714FAA93B510}"/>
              </a:ext>
            </a:extLst>
          </p:cNvPr>
          <p:cNvSpPr txBox="1"/>
          <p:nvPr/>
        </p:nvSpPr>
        <p:spPr>
          <a:xfrm>
            <a:off x="2506390" y="2048107"/>
            <a:ext cx="7179219" cy="2523768"/>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Department of Computer Science</a:t>
            </a:r>
          </a:p>
          <a:p>
            <a:pPr algn="ctr"/>
            <a:r>
              <a:rPr lang="en-IN" sz="2800" b="1" dirty="0">
                <a:latin typeface="Times New Roman" panose="02020603050405020304" pitchFamily="18" charset="0"/>
                <a:cs typeface="Times New Roman" panose="02020603050405020304" pitchFamily="18" charset="0"/>
              </a:rPr>
              <a:t>Mini Project</a:t>
            </a:r>
          </a:p>
          <a:p>
            <a:pPr algn="ctr"/>
            <a:r>
              <a:rPr lang="en-IN" sz="2800" b="1" dirty="0">
                <a:latin typeface="Times New Roman" panose="02020603050405020304" pitchFamily="18" charset="0"/>
                <a:cs typeface="Times New Roman" panose="02020603050405020304" pitchFamily="18" charset="0"/>
              </a:rPr>
              <a:t>On</a:t>
            </a:r>
          </a:p>
          <a:p>
            <a:pPr algn="ctr"/>
            <a:r>
              <a:rPr lang="en-IN" sz="2300" b="1" dirty="0">
                <a:latin typeface="Times New Roman" panose="02020603050405020304" pitchFamily="18" charset="0"/>
                <a:cs typeface="Times New Roman" panose="02020603050405020304" pitchFamily="18" charset="0"/>
              </a:rPr>
              <a:t>Explainable AI for Multiple Sclerosis Subtype Classification with Counterfactual Explanations</a:t>
            </a:r>
          </a:p>
          <a:p>
            <a:pPr algn="ctr"/>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1D85E39D-D1F5-3826-AF45-081DE816E02B}"/>
              </a:ext>
            </a:extLst>
          </p:cNvPr>
          <p:cNvSpPr txBox="1"/>
          <p:nvPr/>
        </p:nvSpPr>
        <p:spPr>
          <a:xfrm>
            <a:off x="1238865" y="4621412"/>
            <a:ext cx="4965290"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Mohammed Mustafa (160923753001)</a:t>
            </a:r>
          </a:p>
          <a:p>
            <a:r>
              <a:rPr lang="en-IN" dirty="0">
                <a:latin typeface="Times New Roman" panose="02020603050405020304" pitchFamily="18" charset="0"/>
                <a:cs typeface="Times New Roman" panose="02020603050405020304" pitchFamily="18" charset="0"/>
              </a:rPr>
              <a:t>Syed Atha Ullah Shareef (160923753002)</a:t>
            </a:r>
          </a:p>
          <a:p>
            <a:r>
              <a:rPr lang="en-IN" dirty="0">
                <a:latin typeface="Times New Roman" panose="02020603050405020304" pitchFamily="18" charset="0"/>
                <a:cs typeface="Times New Roman" panose="02020603050405020304" pitchFamily="18" charset="0"/>
              </a:rPr>
              <a:t>Mohammed Mustaqeem Uddin (160923753017)</a:t>
            </a:r>
          </a:p>
        </p:txBody>
      </p:sp>
      <p:sp>
        <p:nvSpPr>
          <p:cNvPr id="15" name="TextBox 14">
            <a:extLst>
              <a:ext uri="{FF2B5EF4-FFF2-40B4-BE49-F238E27FC236}">
                <a16:creationId xmlns:a16="http://schemas.microsoft.com/office/drawing/2014/main" id="{CB62A8CB-60A8-FD97-1769-457E4D8C42D4}"/>
              </a:ext>
            </a:extLst>
          </p:cNvPr>
          <p:cNvSpPr txBox="1"/>
          <p:nvPr/>
        </p:nvSpPr>
        <p:spPr>
          <a:xfrm>
            <a:off x="8200103" y="4898411"/>
            <a:ext cx="3957483"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Guide Name:</a:t>
            </a:r>
          </a:p>
          <a:p>
            <a:r>
              <a:rPr lang="en-IN" dirty="0">
                <a:latin typeface="Times New Roman" panose="02020603050405020304" pitchFamily="18" charset="0"/>
                <a:cs typeface="Times New Roman" panose="02020603050405020304" pitchFamily="18" charset="0"/>
              </a:rPr>
              <a:t>Mrs. Hajira Sabuhi</a:t>
            </a:r>
          </a:p>
          <a:p>
            <a:r>
              <a:rPr lang="en-IN" dirty="0">
                <a:latin typeface="Times New Roman" panose="02020603050405020304" pitchFamily="18" charset="0"/>
                <a:cs typeface="Times New Roman" panose="02020603050405020304" pitchFamily="18" charset="0"/>
              </a:rPr>
              <a:t>Assistant Professor</a:t>
            </a:r>
          </a:p>
        </p:txBody>
      </p:sp>
      <p:pic>
        <p:nvPicPr>
          <p:cNvPr id="1026" name="Picture 2" descr="Lords Institute of Engineering and Technology – Official Website">
            <a:extLst>
              <a:ext uri="{FF2B5EF4-FFF2-40B4-BE49-F238E27FC236}">
                <a16:creationId xmlns:a16="http://schemas.microsoft.com/office/drawing/2014/main" id="{E65ECB59-4011-45E1-F72A-D3E3B4C334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9893" y="74833"/>
            <a:ext cx="4750210" cy="164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4959138"/>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DF4EAB-E2D8-9E55-3A39-CF9320AA1E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98147"/>
            <a:ext cx="1526020" cy="1776017"/>
          </a:xfrm>
          <a:prstGeom prst="rect">
            <a:avLst/>
          </a:prstGeom>
        </p:spPr>
      </p:pic>
      <p:sp>
        <p:nvSpPr>
          <p:cNvPr id="4" name="Title 3">
            <a:extLst>
              <a:ext uri="{FF2B5EF4-FFF2-40B4-BE49-F238E27FC236}">
                <a16:creationId xmlns:a16="http://schemas.microsoft.com/office/drawing/2014/main" id="{2570D9EC-550E-DD8D-3369-37A101CA249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Contents</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74851AF-D3BF-9F63-0C1E-FE0C94D9F2E0}"/>
              </a:ext>
            </a:extLst>
          </p:cNvPr>
          <p:cNvSpPr>
            <a:spLocks noGrp="1"/>
          </p:cNvSpPr>
          <p:nvPr>
            <p:ph idx="1"/>
          </p:nvPr>
        </p:nvSpPr>
        <p:spPr>
          <a:xfrm>
            <a:off x="785488" y="1676400"/>
            <a:ext cx="9760592" cy="4739640"/>
          </a:xfrm>
        </p:spPr>
        <p:txBody>
          <a:bodyPr>
            <a:normAutofit lnSpcReduction="10000"/>
          </a:bodyPr>
          <a:lstStyle/>
          <a:p>
            <a:pPr algn="just">
              <a:buFont typeface="+mj-lt"/>
              <a:buAutoNum type="arabicPeriod"/>
            </a:pPr>
            <a:r>
              <a:rPr lang="en-US" sz="2400" dirty="0">
                <a:latin typeface="Times New Roman" panose="02020603050405020304" pitchFamily="18" charset="0"/>
                <a:cs typeface="Times New Roman" panose="02020603050405020304" pitchFamily="18" charset="0"/>
              </a:rPr>
              <a:t>Abstract</a:t>
            </a:r>
          </a:p>
          <a:p>
            <a:pPr algn="just">
              <a:buFont typeface="+mj-lt"/>
              <a:buAutoNum type="arabicPeriod"/>
            </a:pPr>
            <a:r>
              <a:rPr lang="en-US" sz="2400" dirty="0">
                <a:latin typeface="Times New Roman" panose="02020603050405020304" pitchFamily="18" charset="0"/>
                <a:cs typeface="Times New Roman" panose="02020603050405020304" pitchFamily="18" charset="0"/>
              </a:rPr>
              <a:t>Introduction</a:t>
            </a:r>
          </a:p>
          <a:p>
            <a:pPr algn="just">
              <a:buFont typeface="+mj-lt"/>
              <a:buAutoNum type="arabicPeriod"/>
            </a:pPr>
            <a:r>
              <a:rPr lang="en-US" sz="2400" dirty="0">
                <a:latin typeface="Times New Roman" panose="02020603050405020304" pitchFamily="18" charset="0"/>
                <a:cs typeface="Times New Roman" panose="02020603050405020304" pitchFamily="18" charset="0"/>
              </a:rPr>
              <a:t>Literature Survey</a:t>
            </a:r>
          </a:p>
          <a:p>
            <a:pPr algn="just">
              <a:buFont typeface="+mj-lt"/>
              <a:buAutoNum type="arabicPeriod"/>
            </a:pPr>
            <a:r>
              <a:rPr lang="en-US" sz="2400" dirty="0">
                <a:latin typeface="Times New Roman" panose="02020603050405020304" pitchFamily="18" charset="0"/>
                <a:cs typeface="Times New Roman" panose="02020603050405020304" pitchFamily="18" charset="0"/>
              </a:rPr>
              <a:t>Existing System</a:t>
            </a:r>
          </a:p>
          <a:p>
            <a:pPr algn="just">
              <a:buFont typeface="+mj-lt"/>
              <a:buAutoNum type="arabicPeriod"/>
            </a:pPr>
            <a:r>
              <a:rPr lang="en-US" sz="2400" dirty="0">
                <a:latin typeface="Times New Roman" panose="02020603050405020304" pitchFamily="18" charset="0"/>
                <a:cs typeface="Times New Roman" panose="02020603050405020304" pitchFamily="18" charset="0"/>
              </a:rPr>
              <a:t>Proposed System </a:t>
            </a:r>
          </a:p>
          <a:p>
            <a:pPr algn="just">
              <a:buFont typeface="+mj-lt"/>
              <a:buAutoNum type="arabicPeriod"/>
            </a:pPr>
            <a:r>
              <a:rPr lang="en-US" sz="2400" dirty="0">
                <a:latin typeface="Times New Roman" panose="02020603050405020304" pitchFamily="18" charset="0"/>
                <a:cs typeface="Times New Roman" panose="02020603050405020304" pitchFamily="18" charset="0"/>
              </a:rPr>
              <a:t>Methodology</a:t>
            </a:r>
          </a:p>
          <a:p>
            <a:pPr algn="just">
              <a:buFont typeface="+mj-lt"/>
              <a:buAutoNum type="arabicPeriod"/>
            </a:pPr>
            <a:r>
              <a:rPr lang="en-US" sz="2400" dirty="0">
                <a:latin typeface="Times New Roman" panose="02020603050405020304" pitchFamily="18" charset="0"/>
                <a:cs typeface="Times New Roman" panose="02020603050405020304" pitchFamily="18" charset="0"/>
              </a:rPr>
              <a:t>Implementation</a:t>
            </a:r>
          </a:p>
          <a:p>
            <a:pPr algn="just">
              <a:buFont typeface="+mj-lt"/>
              <a:buAutoNum type="arabicPeriod"/>
            </a:pPr>
            <a:r>
              <a:rPr lang="en-US" sz="2400" dirty="0">
                <a:latin typeface="Times New Roman" panose="02020603050405020304" pitchFamily="18" charset="0"/>
                <a:cs typeface="Times New Roman" panose="02020603050405020304" pitchFamily="18" charset="0"/>
              </a:rPr>
              <a:t>Result</a:t>
            </a:r>
          </a:p>
          <a:p>
            <a:pPr algn="just">
              <a:buFont typeface="+mj-lt"/>
              <a:buAutoNum type="arabicPeriod"/>
            </a:pPr>
            <a:r>
              <a:rPr lang="en-US" sz="2400" dirty="0">
                <a:latin typeface="Times New Roman" panose="02020603050405020304" pitchFamily="18" charset="0"/>
                <a:cs typeface="Times New Roman" panose="02020603050405020304" pitchFamily="18" charset="0"/>
              </a:rPr>
              <a:t>Conclusion</a:t>
            </a:r>
          </a:p>
          <a:p>
            <a:pPr algn="just">
              <a:buFont typeface="+mj-lt"/>
              <a:buAutoNum type="arabicPeriod"/>
            </a:pPr>
            <a:r>
              <a:rPr lang="en-US" sz="2400" dirty="0">
                <a:latin typeface="Times New Roman" panose="02020603050405020304" pitchFamily="18" charset="0"/>
                <a:cs typeface="Times New Roman" panose="02020603050405020304" pitchFamily="18" charset="0"/>
              </a:rPr>
              <a:t>References</a:t>
            </a:r>
          </a:p>
          <a:p>
            <a:pPr marL="400050" indent="-400050" algn="just">
              <a:buAutoNum type="arabicPeriod"/>
            </a:pPr>
            <a:endParaRPr lang="en-IN" dirty="0"/>
          </a:p>
        </p:txBody>
      </p:sp>
    </p:spTree>
    <p:extLst>
      <p:ext uri="{BB962C8B-B14F-4D97-AF65-F5344CB8AC3E}">
        <p14:creationId xmlns:p14="http://schemas.microsoft.com/office/powerpoint/2010/main" val="41850394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87B9-86EF-FD68-721A-CF6A5D2DF3AA}"/>
              </a:ext>
            </a:extLst>
          </p:cNvPr>
          <p:cNvSpPr>
            <a:spLocks noGrp="1"/>
          </p:cNvSpPr>
          <p:nvPr>
            <p:ph type="title"/>
          </p:nvPr>
        </p:nvSpPr>
        <p:spPr/>
        <p:txBody>
          <a:bodyPr/>
          <a:lstStyle/>
          <a:p>
            <a:pPr marL="742950" indent="-742950" algn="ctr">
              <a:buFont typeface="+mj-lt"/>
              <a:buAutoNum type="arabicPeriod"/>
            </a:pPr>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9123B8-D949-0539-2981-8A5F9B6F55D0}"/>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This project presents an advanced, explainable machine learning framework for accurately classifying multi-class Multiple Sclerosis (MS) subtypes. Differentiating between MS variants—such as Relapsing-Remitting or Primary Progressive—is clinically complex but essential for delivering personalized treatments. By leveraging an augmented clinical dataset, the proposed system evaluates high-performance algorithms, including XGBoost and RandomForest, to quickly categorize the disease state. Crucially, the system integrates Explainable AI (XAI) tools like SHAP and DiCE to provide clear feature importance and actionable counterfactual scenarios, ultimately empowering clinicians with transparent, data-driven diagnostic support.</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442E4A3-1D8E-F34B-658C-F35F77B87E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98147"/>
            <a:ext cx="1526020" cy="1776017"/>
          </a:xfrm>
          <a:prstGeom prst="rect">
            <a:avLst/>
          </a:prstGeom>
        </p:spPr>
      </p:pic>
      <p:sp>
        <p:nvSpPr>
          <p:cNvPr id="5" name="TextBox 4">
            <a:extLst>
              <a:ext uri="{FF2B5EF4-FFF2-40B4-BE49-F238E27FC236}">
                <a16:creationId xmlns:a16="http://schemas.microsoft.com/office/drawing/2014/main" id="{98CAAED7-8097-2E21-DE29-918CFBB5701D}"/>
              </a:ext>
            </a:extLst>
          </p:cNvPr>
          <p:cNvSpPr txBox="1"/>
          <p:nvPr/>
        </p:nvSpPr>
        <p:spPr>
          <a:xfrm>
            <a:off x="11021961" y="6538452"/>
            <a:ext cx="987771" cy="369332"/>
          </a:xfrm>
          <a:prstGeom prst="rect">
            <a:avLst/>
          </a:prstGeom>
          <a:noFill/>
        </p:spPr>
        <p:txBody>
          <a:bodyPr wrap="none" rtlCol="0">
            <a:spAutoFit/>
          </a:bodyPr>
          <a:lstStyle/>
          <a:p>
            <a:r>
              <a:rPr lang="en-US" dirty="0">
                <a:solidFill>
                  <a:schemeClr val="accent5">
                    <a:lumMod val="50000"/>
                  </a:schemeClr>
                </a:solidFill>
              </a:rPr>
              <a:t>Mustafa</a:t>
            </a:r>
            <a:endParaRPr lang="en-IN" dirty="0">
              <a:solidFill>
                <a:schemeClr val="accent5">
                  <a:lumMod val="50000"/>
                </a:schemeClr>
              </a:solidFill>
            </a:endParaRPr>
          </a:p>
        </p:txBody>
      </p:sp>
    </p:spTree>
    <p:extLst>
      <p:ext uri="{BB962C8B-B14F-4D97-AF65-F5344CB8AC3E}">
        <p14:creationId xmlns:p14="http://schemas.microsoft.com/office/powerpoint/2010/main" val="293545338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6FCFE-DA01-4819-5FA5-1CD97824EAFD}"/>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2. 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782412-58B9-439C-A685-D1FFDDD1160B}"/>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Multiple Sclerosis (MS) is a complex neurological disease that manifests in several distinct clinical subtypes.</a:t>
            </a:r>
          </a:p>
          <a:p>
            <a:pPr algn="just"/>
            <a:r>
              <a:rPr lang="en-US" sz="2000" dirty="0">
                <a:latin typeface="Times New Roman" panose="02020603050405020304" pitchFamily="18" charset="0"/>
                <a:cs typeface="Times New Roman" panose="02020603050405020304" pitchFamily="18" charset="0"/>
              </a:rPr>
              <a:t>Traditional manual diagnosis requires time-consuming clinical observations and can be prone to human variability.</a:t>
            </a:r>
          </a:p>
          <a:p>
            <a:pPr algn="just"/>
            <a:r>
              <a:rPr lang="en-US" sz="2000" dirty="0">
                <a:latin typeface="Times New Roman" panose="02020603050405020304" pitchFamily="18" charset="0"/>
                <a:cs typeface="Times New Roman" panose="02020603050405020304" pitchFamily="18" charset="0"/>
              </a:rPr>
              <a:t>Integrating Artificial Intelligence allows for the rapid, data-driven categorization of these complicated MS subtypes.</a:t>
            </a:r>
          </a:p>
          <a:p>
            <a:pPr algn="just"/>
            <a:r>
              <a:rPr lang="en-US" sz="2000" dirty="0">
                <a:latin typeface="Times New Roman" panose="02020603050405020304" pitchFamily="18" charset="0"/>
                <a:cs typeface="Times New Roman" panose="02020603050405020304" pitchFamily="18" charset="0"/>
              </a:rPr>
              <a:t>Our project introduces Explainable AI to ensure that model predictions are completely transparent to Clinicians.</a:t>
            </a:r>
          </a:p>
          <a:p>
            <a:pPr algn="just"/>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696617B-2A4C-9791-60B3-3C39A6EAB7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88315"/>
            <a:ext cx="1526020" cy="1776017"/>
          </a:xfrm>
          <a:prstGeom prst="rect">
            <a:avLst/>
          </a:prstGeom>
        </p:spPr>
      </p:pic>
      <p:sp>
        <p:nvSpPr>
          <p:cNvPr id="5" name="TextBox 4">
            <a:extLst>
              <a:ext uri="{FF2B5EF4-FFF2-40B4-BE49-F238E27FC236}">
                <a16:creationId xmlns:a16="http://schemas.microsoft.com/office/drawing/2014/main" id="{5932C438-C413-6E4D-E397-DFEAF5963CE6}"/>
              </a:ext>
            </a:extLst>
          </p:cNvPr>
          <p:cNvSpPr txBox="1"/>
          <p:nvPr/>
        </p:nvSpPr>
        <p:spPr>
          <a:xfrm>
            <a:off x="10902089" y="6547662"/>
            <a:ext cx="1354858" cy="369332"/>
          </a:xfrm>
          <a:prstGeom prst="rect">
            <a:avLst/>
          </a:prstGeom>
          <a:noFill/>
        </p:spPr>
        <p:txBody>
          <a:bodyPr wrap="none" rtlCol="0">
            <a:spAutoFit/>
          </a:bodyPr>
          <a:lstStyle/>
          <a:p>
            <a:r>
              <a:rPr lang="en-US" dirty="0">
                <a:solidFill>
                  <a:schemeClr val="accent5">
                    <a:lumMod val="50000"/>
                  </a:schemeClr>
                </a:solidFill>
              </a:rPr>
              <a:t>Mustaqeem</a:t>
            </a:r>
            <a:endParaRPr lang="en-IN" dirty="0">
              <a:solidFill>
                <a:schemeClr val="accent5">
                  <a:lumMod val="50000"/>
                </a:schemeClr>
              </a:solidFill>
            </a:endParaRPr>
          </a:p>
        </p:txBody>
      </p:sp>
    </p:spTree>
    <p:extLst>
      <p:ext uri="{BB962C8B-B14F-4D97-AF65-F5344CB8AC3E}">
        <p14:creationId xmlns:p14="http://schemas.microsoft.com/office/powerpoint/2010/main" val="77912724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9FDE6-071F-45E6-5DD6-87F365CD8D03}"/>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3. 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5333CD-89D4-256D-7C4A-5828C7409D53}"/>
              </a:ext>
            </a:extLst>
          </p:cNvPr>
          <p:cNvSpPr>
            <a:spLocks noGrp="1"/>
          </p:cNvSpPr>
          <p:nvPr>
            <p:ph idx="1"/>
          </p:nvPr>
        </p:nvSpPr>
        <p:spPr>
          <a:xfrm>
            <a:off x="677334" y="1711355"/>
            <a:ext cx="8596668" cy="4330008"/>
          </a:xfrm>
        </p:spPr>
        <p:txBody>
          <a:bodyPr>
            <a:normAutofit/>
          </a:bodyPr>
          <a:lstStyle/>
          <a:p>
            <a:pPr algn="just"/>
            <a:r>
              <a:rPr lang="en-US" b="1" dirty="0">
                <a:latin typeface="Times New Roman" panose="02020603050405020304" pitchFamily="18" charset="0"/>
                <a:cs typeface="Times New Roman" panose="02020603050405020304" pitchFamily="18" charset="0"/>
              </a:rPr>
              <a:t>(2026)</a:t>
            </a:r>
            <a:r>
              <a:rPr lang="en-US" dirty="0">
                <a:latin typeface="Times New Roman" panose="02020603050405020304" pitchFamily="18" charset="0"/>
                <a:cs typeface="Times New Roman" panose="02020603050405020304" pitchFamily="18" charset="0"/>
              </a:rPr>
              <a:t> Recent research proposes advanced machine learning techniques for accurate classification of Multiple Sclerosis (MS) subtypes, focusing on identifying complex clinical patterns to improve diagnostic precision.</a:t>
            </a:r>
          </a:p>
          <a:p>
            <a:pPr algn="just"/>
            <a:r>
              <a:rPr lang="en-US" b="1" dirty="0">
                <a:latin typeface="Times New Roman" panose="02020603050405020304" pitchFamily="18" charset="0"/>
                <a:cs typeface="Times New Roman" panose="02020603050405020304" pitchFamily="18" charset="0"/>
              </a:rPr>
              <a:t>(2024)</a:t>
            </a:r>
            <a:r>
              <a:rPr lang="en-US" dirty="0">
                <a:latin typeface="Times New Roman" panose="02020603050405020304" pitchFamily="18" charset="0"/>
                <a:cs typeface="Times New Roman" panose="02020603050405020304" pitchFamily="18" charset="0"/>
              </a:rPr>
              <a:t> Studies highlight the application of AI models in neurological disorder prediction, emphasizing early diagnosis and data-driven clinical decision-making.</a:t>
            </a:r>
          </a:p>
          <a:p>
            <a:pPr algn="just"/>
            <a:r>
              <a:rPr lang="en-US" b="1" dirty="0">
                <a:latin typeface="Times New Roman" panose="02020603050405020304" pitchFamily="18" charset="0"/>
                <a:cs typeface="Times New Roman" panose="02020603050405020304" pitchFamily="18" charset="0"/>
              </a:rPr>
              <a:t>(2024)</a:t>
            </a:r>
            <a:r>
              <a:rPr lang="en-US" dirty="0">
                <a:latin typeface="Times New Roman" panose="02020603050405020304" pitchFamily="18" charset="0"/>
                <a:cs typeface="Times New Roman" panose="02020603050405020304" pitchFamily="18" charset="0"/>
              </a:rPr>
              <a:t> Deep learning-based approaches have been explored for MS subtype classification, addressing challenges such as model accuracy, interpretability, and clinical reliability.</a:t>
            </a:r>
          </a:p>
          <a:p>
            <a:pPr marL="0" indent="0" algn="just">
              <a:buNone/>
            </a:pPr>
            <a:r>
              <a:rPr lang="en-US" b="1" dirty="0">
                <a:solidFill>
                  <a:schemeClr val="accent1"/>
                </a:solidFill>
                <a:latin typeface="Times New Roman" panose="02020603050405020304" pitchFamily="18" charset="0"/>
                <a:cs typeface="Times New Roman" panose="02020603050405020304" pitchFamily="18" charset="0"/>
              </a:rPr>
              <a:t>Research Gap</a:t>
            </a:r>
          </a:p>
          <a:p>
            <a:pPr algn="just"/>
            <a:r>
              <a:rPr lang="en-US" dirty="0">
                <a:latin typeface="Times New Roman" panose="02020603050405020304" pitchFamily="18" charset="0"/>
                <a:cs typeface="Times New Roman" panose="02020603050405020304" pitchFamily="18" charset="0"/>
              </a:rPr>
              <a:t>Limited focus on Explainable AI (XAI) in existing models </a:t>
            </a:r>
          </a:p>
          <a:p>
            <a:pPr algn="just"/>
            <a:r>
              <a:rPr lang="en-US" dirty="0">
                <a:latin typeface="Times New Roman" panose="02020603050405020304" pitchFamily="18" charset="0"/>
                <a:cs typeface="Times New Roman" panose="02020603050405020304" pitchFamily="18" charset="0"/>
              </a:rPr>
              <a:t>Lack of actionable insights for clinical improvement </a:t>
            </a:r>
          </a:p>
          <a:p>
            <a:pPr algn="just"/>
            <a:r>
              <a:rPr lang="en-US" dirty="0">
                <a:latin typeface="Times New Roman" panose="02020603050405020304" pitchFamily="18" charset="0"/>
                <a:cs typeface="Times New Roman" panose="02020603050405020304" pitchFamily="18" charset="0"/>
              </a:rPr>
              <a:t>Need for personalized and interpretable predictions</a:t>
            </a:r>
          </a:p>
          <a:p>
            <a:pPr algn="just"/>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96023D0-3B58-8269-5E37-30B3366B4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98147"/>
            <a:ext cx="1526020" cy="1776017"/>
          </a:xfrm>
          <a:prstGeom prst="rect">
            <a:avLst/>
          </a:prstGeom>
        </p:spPr>
      </p:pic>
      <p:sp>
        <p:nvSpPr>
          <p:cNvPr id="5" name="TextBox 4">
            <a:extLst>
              <a:ext uri="{FF2B5EF4-FFF2-40B4-BE49-F238E27FC236}">
                <a16:creationId xmlns:a16="http://schemas.microsoft.com/office/drawing/2014/main" id="{C9DDDF28-30CF-000C-C84E-DB0AB0B77A85}"/>
              </a:ext>
            </a:extLst>
          </p:cNvPr>
          <p:cNvSpPr txBox="1"/>
          <p:nvPr/>
        </p:nvSpPr>
        <p:spPr>
          <a:xfrm>
            <a:off x="11531242" y="6518165"/>
            <a:ext cx="660758" cy="369332"/>
          </a:xfrm>
          <a:prstGeom prst="rect">
            <a:avLst/>
          </a:prstGeom>
          <a:noFill/>
        </p:spPr>
        <p:txBody>
          <a:bodyPr wrap="none" rtlCol="0">
            <a:spAutoFit/>
          </a:bodyPr>
          <a:lstStyle/>
          <a:p>
            <a:r>
              <a:rPr lang="en-US" dirty="0">
                <a:solidFill>
                  <a:schemeClr val="accent5">
                    <a:lumMod val="50000"/>
                  </a:schemeClr>
                </a:solidFill>
              </a:rPr>
              <a:t>Atha</a:t>
            </a:r>
            <a:endParaRPr lang="en-IN" dirty="0">
              <a:solidFill>
                <a:schemeClr val="accent5">
                  <a:lumMod val="50000"/>
                </a:schemeClr>
              </a:solidFill>
            </a:endParaRPr>
          </a:p>
        </p:txBody>
      </p:sp>
    </p:spTree>
    <p:extLst>
      <p:ext uri="{BB962C8B-B14F-4D97-AF65-F5344CB8AC3E}">
        <p14:creationId xmlns:p14="http://schemas.microsoft.com/office/powerpoint/2010/main" val="346052646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FDB08-02FB-CBE7-B8CE-E9E452796E27}"/>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4. Existing System</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FFCA4B5-EBA7-F1E7-30A1-E0D2BEFD2A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88315"/>
            <a:ext cx="1526020" cy="1776017"/>
          </a:xfrm>
          <a:prstGeom prst="rect">
            <a:avLst/>
          </a:prstGeom>
        </p:spPr>
      </p:pic>
      <p:sp>
        <p:nvSpPr>
          <p:cNvPr id="5" name="TextBox 4">
            <a:extLst>
              <a:ext uri="{FF2B5EF4-FFF2-40B4-BE49-F238E27FC236}">
                <a16:creationId xmlns:a16="http://schemas.microsoft.com/office/drawing/2014/main" id="{F492D6B3-FE44-71E8-4828-BA3B4ED65537}"/>
              </a:ext>
            </a:extLst>
          </p:cNvPr>
          <p:cNvSpPr txBox="1"/>
          <p:nvPr/>
        </p:nvSpPr>
        <p:spPr>
          <a:xfrm>
            <a:off x="11231688" y="6569685"/>
            <a:ext cx="980768" cy="369332"/>
          </a:xfrm>
          <a:prstGeom prst="rect">
            <a:avLst/>
          </a:prstGeom>
          <a:noFill/>
        </p:spPr>
        <p:txBody>
          <a:bodyPr wrap="square">
            <a:spAutoFit/>
          </a:bodyPr>
          <a:lstStyle/>
          <a:p>
            <a:r>
              <a:rPr lang="en-US" dirty="0">
                <a:solidFill>
                  <a:schemeClr val="accent5">
                    <a:lumMod val="50000"/>
                  </a:schemeClr>
                </a:solidFill>
              </a:rPr>
              <a:t>Mustafa</a:t>
            </a:r>
            <a:endParaRPr lang="en-IN" dirty="0">
              <a:solidFill>
                <a:schemeClr val="accent5">
                  <a:lumMod val="50000"/>
                </a:schemeClr>
              </a:solidFill>
            </a:endParaRPr>
          </a:p>
        </p:txBody>
      </p:sp>
      <p:pic>
        <p:nvPicPr>
          <p:cNvPr id="14" name="Content Placeholder 13">
            <a:extLst>
              <a:ext uri="{FF2B5EF4-FFF2-40B4-BE49-F238E27FC236}">
                <a16:creationId xmlns:a16="http://schemas.microsoft.com/office/drawing/2014/main" id="{66CC3E98-C152-7C2B-ED64-1FF3C6A6B069}"/>
              </a:ext>
            </a:extLst>
          </p:cNvPr>
          <p:cNvPicPr>
            <a:picLocks noGrp="1" noChangeAspect="1"/>
          </p:cNvPicPr>
          <p:nvPr>
            <p:ph idx="1"/>
          </p:nvPr>
        </p:nvPicPr>
        <p:blipFill>
          <a:blip r:embed="rId3"/>
          <a:srcRect t="6628" b="7635"/>
          <a:stretch>
            <a:fillRect/>
          </a:stretch>
        </p:blipFill>
        <p:spPr>
          <a:xfrm>
            <a:off x="2052758" y="1822246"/>
            <a:ext cx="6356004" cy="4185266"/>
          </a:xfrm>
          <a:prstGeom prst="rect">
            <a:avLst/>
          </a:prstGeom>
        </p:spPr>
      </p:pic>
    </p:spTree>
    <p:extLst>
      <p:ext uri="{BB962C8B-B14F-4D97-AF65-F5344CB8AC3E}">
        <p14:creationId xmlns:p14="http://schemas.microsoft.com/office/powerpoint/2010/main" val="160251764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A1586-0142-2608-8D11-2A35B3232285}"/>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4.1. Limitations of Existing System</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7E6E66B-6DC2-FB72-1E17-711905423B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88315"/>
            <a:ext cx="1526020" cy="1776017"/>
          </a:xfrm>
          <a:prstGeom prst="rect">
            <a:avLst/>
          </a:prstGeom>
        </p:spPr>
      </p:pic>
      <p:pic>
        <p:nvPicPr>
          <p:cNvPr id="11" name="Content Placeholder 10">
            <a:extLst>
              <a:ext uri="{FF2B5EF4-FFF2-40B4-BE49-F238E27FC236}">
                <a16:creationId xmlns:a16="http://schemas.microsoft.com/office/drawing/2014/main" id="{17029C15-1BD4-2C08-1B2B-9EF18513E07B}"/>
              </a:ext>
            </a:extLst>
          </p:cNvPr>
          <p:cNvPicPr>
            <a:picLocks noGrp="1" noChangeAspect="1"/>
          </p:cNvPicPr>
          <p:nvPr>
            <p:ph idx="1"/>
          </p:nvPr>
        </p:nvPicPr>
        <p:blipFill>
          <a:blip r:embed="rId3"/>
          <a:stretch>
            <a:fillRect/>
          </a:stretch>
        </p:blipFill>
        <p:spPr>
          <a:xfrm>
            <a:off x="2592198" y="1484852"/>
            <a:ext cx="5125673" cy="4557174"/>
          </a:xfrm>
          <a:prstGeom prst="rect">
            <a:avLst/>
          </a:prstGeom>
        </p:spPr>
      </p:pic>
      <p:sp>
        <p:nvSpPr>
          <p:cNvPr id="5" name="TextBox 4">
            <a:extLst>
              <a:ext uri="{FF2B5EF4-FFF2-40B4-BE49-F238E27FC236}">
                <a16:creationId xmlns:a16="http://schemas.microsoft.com/office/drawing/2014/main" id="{BAA1D36D-5BF1-EF7C-3507-1664E2D400D0}"/>
              </a:ext>
            </a:extLst>
          </p:cNvPr>
          <p:cNvSpPr txBox="1"/>
          <p:nvPr/>
        </p:nvSpPr>
        <p:spPr>
          <a:xfrm>
            <a:off x="11187443" y="6569685"/>
            <a:ext cx="1069258" cy="369332"/>
          </a:xfrm>
          <a:prstGeom prst="rect">
            <a:avLst/>
          </a:prstGeom>
          <a:noFill/>
        </p:spPr>
        <p:txBody>
          <a:bodyPr wrap="square">
            <a:spAutoFit/>
          </a:bodyPr>
          <a:lstStyle/>
          <a:p>
            <a:r>
              <a:rPr lang="en-US" dirty="0">
                <a:solidFill>
                  <a:schemeClr val="accent5">
                    <a:lumMod val="50000"/>
                  </a:schemeClr>
                </a:solidFill>
              </a:rPr>
              <a:t>Mustafa</a:t>
            </a:r>
            <a:endParaRPr lang="en-IN" dirty="0">
              <a:solidFill>
                <a:schemeClr val="accent5">
                  <a:lumMod val="50000"/>
                </a:schemeClr>
              </a:solidFill>
            </a:endParaRPr>
          </a:p>
        </p:txBody>
      </p:sp>
    </p:spTree>
    <p:extLst>
      <p:ext uri="{BB962C8B-B14F-4D97-AF65-F5344CB8AC3E}">
        <p14:creationId xmlns:p14="http://schemas.microsoft.com/office/powerpoint/2010/main" val="391627730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82E5C-AF7A-9852-57A3-F10297570673}"/>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5. Proposed System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EC4BA5-6449-389B-D885-6F6C1401F666}"/>
              </a:ext>
            </a:extLst>
          </p:cNvPr>
          <p:cNvSpPr>
            <a:spLocks noGrp="1"/>
          </p:cNvSpPr>
          <p:nvPr>
            <p:ph idx="1"/>
          </p:nvPr>
        </p:nvSpPr>
        <p:spPr>
          <a:xfrm>
            <a:off x="677334" y="2323750"/>
            <a:ext cx="8596668" cy="3717612"/>
          </a:xfrm>
        </p:spPr>
        <p:txBody>
          <a:bodyPr>
            <a:normAutofit/>
          </a:bodyPr>
          <a:lstStyle/>
          <a:p>
            <a:pPr algn="just"/>
            <a:r>
              <a:rPr lang="en-US" sz="2400" dirty="0">
                <a:latin typeface="Times New Roman" panose="02020603050405020304" pitchFamily="18" charset="0"/>
                <a:cs typeface="Times New Roman" panose="02020603050405020304" pitchFamily="18" charset="0"/>
              </a:rPr>
              <a:t>An intelligent classification system that automatically identifies distinct MS subtypes using advanced Machine Learning models.</a:t>
            </a:r>
          </a:p>
          <a:p>
            <a:pPr algn="just"/>
            <a:r>
              <a:rPr lang="en-US" sz="2400" dirty="0">
                <a:latin typeface="Times New Roman" panose="02020603050405020304" pitchFamily="18" charset="0"/>
                <a:cs typeface="Times New Roman" panose="02020603050405020304" pitchFamily="18" charset="0"/>
              </a:rPr>
              <a:t>Integrates Explainable AI (XAI) techniques such as SHAP to clearly interpret and justify model predictions.</a:t>
            </a:r>
          </a:p>
          <a:p>
            <a:pPr algn="just"/>
            <a:r>
              <a:rPr lang="en-US" sz="2400" dirty="0">
                <a:latin typeface="Times New Roman" panose="02020603050405020304" pitchFamily="18" charset="0"/>
                <a:cs typeface="Times New Roman" panose="02020603050405020304" pitchFamily="18" charset="0"/>
              </a:rPr>
              <a:t>Utilizes DiCE (Diverse Counterfactual Explanations) to provide actionable insights by suggesting changes in clinical features that could alter the predicted outcome.</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D3ABD72-588F-7F61-1ECF-28D1DE7A70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88315"/>
            <a:ext cx="1526020" cy="1776017"/>
          </a:xfrm>
          <a:prstGeom prst="rect">
            <a:avLst/>
          </a:prstGeom>
        </p:spPr>
      </p:pic>
      <p:sp>
        <p:nvSpPr>
          <p:cNvPr id="5" name="TextBox 4">
            <a:extLst>
              <a:ext uri="{FF2B5EF4-FFF2-40B4-BE49-F238E27FC236}">
                <a16:creationId xmlns:a16="http://schemas.microsoft.com/office/drawing/2014/main" id="{701F8795-DBD3-67D9-780B-813870A56BDF}"/>
              </a:ext>
            </a:extLst>
          </p:cNvPr>
          <p:cNvSpPr txBox="1"/>
          <p:nvPr/>
        </p:nvSpPr>
        <p:spPr>
          <a:xfrm>
            <a:off x="11159613" y="6587613"/>
            <a:ext cx="660758" cy="369332"/>
          </a:xfrm>
          <a:prstGeom prst="rect">
            <a:avLst/>
          </a:prstGeom>
          <a:noFill/>
        </p:spPr>
        <p:txBody>
          <a:bodyPr wrap="none" rtlCol="0">
            <a:spAutoFit/>
          </a:bodyPr>
          <a:lstStyle/>
          <a:p>
            <a:r>
              <a:rPr lang="en-US" dirty="0">
                <a:solidFill>
                  <a:schemeClr val="accent5">
                    <a:lumMod val="50000"/>
                  </a:schemeClr>
                </a:solidFill>
              </a:rPr>
              <a:t>Atha</a:t>
            </a:r>
            <a:endParaRPr lang="en-IN" dirty="0">
              <a:solidFill>
                <a:schemeClr val="accent5">
                  <a:lumMod val="50000"/>
                </a:schemeClr>
              </a:solidFill>
            </a:endParaRPr>
          </a:p>
        </p:txBody>
      </p:sp>
    </p:spTree>
    <p:extLst>
      <p:ext uri="{BB962C8B-B14F-4D97-AF65-F5344CB8AC3E}">
        <p14:creationId xmlns:p14="http://schemas.microsoft.com/office/powerpoint/2010/main" val="155872324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E3E87-04EE-F994-17EF-639A60B1D099}"/>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5.1.  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C0EA9D-B89E-6627-3121-D843892BE458}"/>
              </a:ext>
            </a:extLst>
          </p:cNvPr>
          <p:cNvSpPr>
            <a:spLocks noGrp="1"/>
          </p:cNvSpPr>
          <p:nvPr>
            <p:ph idx="1"/>
          </p:nvPr>
        </p:nvSpPr>
        <p:spPr>
          <a:xfrm>
            <a:off x="677334" y="2306972"/>
            <a:ext cx="8596668" cy="3734390"/>
          </a:xfrm>
        </p:spPr>
        <p:txBody>
          <a:bodyPr>
            <a:normAutofit/>
          </a:bodyPr>
          <a:lstStyle/>
          <a:p>
            <a:pPr lvl="1"/>
            <a:r>
              <a:rPr lang="en-US" sz="2400" dirty="0">
                <a:latin typeface="Times New Roman" panose="02020603050405020304" pitchFamily="18" charset="0"/>
                <a:cs typeface="Times New Roman" panose="02020603050405020304" pitchFamily="18" charset="0"/>
              </a:rPr>
              <a:t>Accurately classifying Multiple Sclerosis (MS) subtypes based on complex clinical and demographic data remains a challenging task due to subtle variations and overlapping patterns.</a:t>
            </a:r>
          </a:p>
          <a:p>
            <a:pPr lvl="1"/>
            <a:r>
              <a:rPr lang="en-US" sz="2400" dirty="0">
                <a:latin typeface="Times New Roman" panose="02020603050405020304" pitchFamily="18" charset="0"/>
                <a:cs typeface="Times New Roman" panose="02020603050405020304" pitchFamily="18" charset="0"/>
              </a:rPr>
              <a:t>There is a vital need for a transparent and interpretable automated system that supports clinicians by providing clear explanations, rather than functioning as a “black-box” model.</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A6F3957-1881-20D0-AC89-B79BB35975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98147"/>
            <a:ext cx="1526020" cy="1776017"/>
          </a:xfrm>
          <a:prstGeom prst="rect">
            <a:avLst/>
          </a:prstGeom>
        </p:spPr>
      </p:pic>
      <p:sp>
        <p:nvSpPr>
          <p:cNvPr id="6" name="TextBox 5">
            <a:extLst>
              <a:ext uri="{FF2B5EF4-FFF2-40B4-BE49-F238E27FC236}">
                <a16:creationId xmlns:a16="http://schemas.microsoft.com/office/drawing/2014/main" id="{3C984B12-79AF-C522-F745-AFF9A991A844}"/>
              </a:ext>
            </a:extLst>
          </p:cNvPr>
          <p:cNvSpPr txBox="1"/>
          <p:nvPr/>
        </p:nvSpPr>
        <p:spPr>
          <a:xfrm>
            <a:off x="11565193" y="6559853"/>
            <a:ext cx="902110" cy="369332"/>
          </a:xfrm>
          <a:prstGeom prst="rect">
            <a:avLst/>
          </a:prstGeom>
          <a:noFill/>
        </p:spPr>
        <p:txBody>
          <a:bodyPr wrap="square">
            <a:spAutoFit/>
          </a:bodyPr>
          <a:lstStyle/>
          <a:p>
            <a:r>
              <a:rPr lang="en-US" dirty="0">
                <a:solidFill>
                  <a:schemeClr val="accent5">
                    <a:lumMod val="50000"/>
                  </a:schemeClr>
                </a:solidFill>
              </a:rPr>
              <a:t>Atha</a:t>
            </a:r>
            <a:endParaRPr lang="en-IN" dirty="0"/>
          </a:p>
        </p:txBody>
      </p:sp>
    </p:spTree>
    <p:extLst>
      <p:ext uri="{BB962C8B-B14F-4D97-AF65-F5344CB8AC3E}">
        <p14:creationId xmlns:p14="http://schemas.microsoft.com/office/powerpoint/2010/main" val="170220995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2BB98-C568-5BB5-F212-6E5A1D5012E3}"/>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5.2.  Objectives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0FF76E-AF68-8185-EA1F-8A238B32DDF2}"/>
              </a:ext>
            </a:extLst>
          </p:cNvPr>
          <p:cNvSpPr>
            <a:spLocks noGrp="1"/>
          </p:cNvSpPr>
          <p:nvPr>
            <p:ph idx="1"/>
          </p:nvPr>
        </p:nvSpPr>
        <p:spPr/>
        <p:txBody>
          <a:bodyPr>
            <a:normAutofit/>
          </a:bodyPr>
          <a:lstStyle/>
          <a:p>
            <a:pPr algn="just"/>
            <a:r>
              <a:rPr lang="en-US" sz="2800" dirty="0">
                <a:latin typeface="Times New Roman" panose="02020603050405020304" pitchFamily="18" charset="0"/>
                <a:cs typeface="Times New Roman" panose="02020603050405020304" pitchFamily="18" charset="0"/>
              </a:rPr>
              <a:t>To build and evaluate high-performance multi-class ML models (like XGBoost and Random Forest) on clinical MS data.</a:t>
            </a:r>
          </a:p>
          <a:p>
            <a:pPr algn="just"/>
            <a:r>
              <a:rPr lang="en-US" sz="2800" dirty="0">
                <a:latin typeface="Times New Roman" panose="02020603050405020304" pitchFamily="18" charset="0"/>
                <a:cs typeface="Times New Roman" panose="02020603050405020304" pitchFamily="18" charset="0"/>
              </a:rPr>
              <a:t>To implement explainability tools that provide both global feature importance and actionable clinical insights.</a:t>
            </a:r>
          </a:p>
          <a:p>
            <a:pPr algn="just"/>
            <a:r>
              <a:rPr lang="en-US" sz="2800" dirty="0">
                <a:latin typeface="Times New Roman" panose="02020603050405020304" pitchFamily="18" charset="0"/>
                <a:cs typeface="Times New Roman" panose="02020603050405020304" pitchFamily="18" charset="0"/>
              </a:rPr>
              <a:t>To drastically reduce the diagnostic delay for patients requiring immediate subtype-specific therapies.</a:t>
            </a:r>
          </a:p>
          <a:p>
            <a:pPr algn="just"/>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BFFBFEC-CD74-7366-4358-0DD52D7549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88315"/>
            <a:ext cx="1526020" cy="1776017"/>
          </a:xfrm>
          <a:prstGeom prst="rect">
            <a:avLst/>
          </a:prstGeom>
        </p:spPr>
      </p:pic>
      <p:sp>
        <p:nvSpPr>
          <p:cNvPr id="6" name="TextBox 5">
            <a:extLst>
              <a:ext uri="{FF2B5EF4-FFF2-40B4-BE49-F238E27FC236}">
                <a16:creationId xmlns:a16="http://schemas.microsoft.com/office/drawing/2014/main" id="{2606ECE1-1031-8CDB-58CD-CC7E60DED09D}"/>
              </a:ext>
            </a:extLst>
          </p:cNvPr>
          <p:cNvSpPr txBox="1"/>
          <p:nvPr/>
        </p:nvSpPr>
        <p:spPr>
          <a:xfrm>
            <a:off x="10959062" y="6488668"/>
            <a:ext cx="1354394" cy="369332"/>
          </a:xfrm>
          <a:prstGeom prst="rect">
            <a:avLst/>
          </a:prstGeom>
          <a:noFill/>
        </p:spPr>
        <p:txBody>
          <a:bodyPr wrap="square">
            <a:spAutoFit/>
          </a:bodyPr>
          <a:lstStyle/>
          <a:p>
            <a:pPr marL="0" algn="l" rtl="0" eaLnBrk="1" latinLnBrk="0" hangingPunct="1">
              <a:buNone/>
            </a:pPr>
            <a:r>
              <a:rPr lang="en-US" sz="1800" kern="1200" dirty="0">
                <a:solidFill>
                  <a:srgbClr val="6D6834"/>
                </a:solidFill>
                <a:effectLst/>
                <a:latin typeface="Trebuchet MS" panose="020B0603020202020204" pitchFamily="34" charset="0"/>
                <a:ea typeface="+mn-ea"/>
                <a:cs typeface="+mn-cs"/>
              </a:rPr>
              <a:t>Mustaqeem</a:t>
            </a:r>
            <a:endParaRPr lang="en-IN" dirty="0">
              <a:effectLst/>
            </a:endParaRPr>
          </a:p>
        </p:txBody>
      </p:sp>
    </p:spTree>
    <p:extLst>
      <p:ext uri="{BB962C8B-B14F-4D97-AF65-F5344CB8AC3E}">
        <p14:creationId xmlns:p14="http://schemas.microsoft.com/office/powerpoint/2010/main" val="200388109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54A7-A518-561A-9E48-80F541A19B64}"/>
              </a:ext>
            </a:extLst>
          </p:cNvPr>
          <p:cNvSpPr>
            <a:spLocks noGrp="1"/>
          </p:cNvSpPr>
          <p:nvPr>
            <p:ph type="title"/>
          </p:nvPr>
        </p:nvSpPr>
        <p:spPr/>
        <p:txBody>
          <a:bodyPr/>
          <a:lstStyle/>
          <a:p>
            <a:pPr algn="ctr"/>
            <a:r>
              <a:rPr lang="en-US" dirty="0"/>
              <a:t>5.3.  Advantages of Proposed System</a:t>
            </a:r>
            <a:endParaRPr lang="en-IN" dirty="0"/>
          </a:p>
        </p:txBody>
      </p:sp>
      <p:pic>
        <p:nvPicPr>
          <p:cNvPr id="6" name="Content Placeholder 5">
            <a:extLst>
              <a:ext uri="{FF2B5EF4-FFF2-40B4-BE49-F238E27FC236}">
                <a16:creationId xmlns:a16="http://schemas.microsoft.com/office/drawing/2014/main" id="{70180A90-8BA6-E899-1621-E45C404105F6}"/>
              </a:ext>
            </a:extLst>
          </p:cNvPr>
          <p:cNvPicPr>
            <a:picLocks noGrp="1" noChangeAspect="1"/>
          </p:cNvPicPr>
          <p:nvPr>
            <p:ph idx="1"/>
          </p:nvPr>
        </p:nvPicPr>
        <p:blipFill>
          <a:blip r:embed="rId2"/>
          <a:stretch>
            <a:fillRect/>
          </a:stretch>
        </p:blipFill>
        <p:spPr>
          <a:xfrm>
            <a:off x="1501726" y="2160588"/>
            <a:ext cx="6948586" cy="3881437"/>
          </a:xfrm>
          <a:prstGeom prst="rect">
            <a:avLst/>
          </a:prstGeom>
        </p:spPr>
      </p:pic>
      <p:pic>
        <p:nvPicPr>
          <p:cNvPr id="4" name="Picture 3">
            <a:extLst>
              <a:ext uri="{FF2B5EF4-FFF2-40B4-BE49-F238E27FC236}">
                <a16:creationId xmlns:a16="http://schemas.microsoft.com/office/drawing/2014/main" id="{8072D931-5CF7-49D6-79DF-7D2E3C7227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96052" y="288315"/>
            <a:ext cx="1526020" cy="1776017"/>
          </a:xfrm>
          <a:prstGeom prst="rect">
            <a:avLst/>
          </a:prstGeom>
        </p:spPr>
      </p:pic>
      <p:pic>
        <p:nvPicPr>
          <p:cNvPr id="7" name="Picture 6">
            <a:extLst>
              <a:ext uri="{FF2B5EF4-FFF2-40B4-BE49-F238E27FC236}">
                <a16:creationId xmlns:a16="http://schemas.microsoft.com/office/drawing/2014/main" id="{9BF23D61-E2F6-6A4B-B45C-DB31FB0AA7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461" y="5473157"/>
            <a:ext cx="432752" cy="503647"/>
          </a:xfrm>
          <a:prstGeom prst="rect">
            <a:avLst/>
          </a:prstGeom>
        </p:spPr>
      </p:pic>
      <p:sp>
        <p:nvSpPr>
          <p:cNvPr id="5" name="TextBox 4">
            <a:extLst>
              <a:ext uri="{FF2B5EF4-FFF2-40B4-BE49-F238E27FC236}">
                <a16:creationId xmlns:a16="http://schemas.microsoft.com/office/drawing/2014/main" id="{32A33ED3-C36B-CA25-2062-FAB71A3F5150}"/>
              </a:ext>
            </a:extLst>
          </p:cNvPr>
          <p:cNvSpPr txBox="1"/>
          <p:nvPr/>
        </p:nvSpPr>
        <p:spPr>
          <a:xfrm>
            <a:off x="10959062" y="6488668"/>
            <a:ext cx="1442884" cy="369332"/>
          </a:xfrm>
          <a:prstGeom prst="rect">
            <a:avLst/>
          </a:prstGeom>
          <a:noFill/>
        </p:spPr>
        <p:txBody>
          <a:bodyPr wrap="square">
            <a:spAutoFit/>
          </a:bodyPr>
          <a:lstStyle/>
          <a:p>
            <a:pPr marL="0" algn="l" rtl="0" eaLnBrk="1" latinLnBrk="0" hangingPunct="1">
              <a:buNone/>
            </a:pPr>
            <a:r>
              <a:rPr lang="en-US" sz="1800" kern="1200" dirty="0">
                <a:solidFill>
                  <a:srgbClr val="6D6834"/>
                </a:solidFill>
                <a:effectLst/>
                <a:latin typeface="Trebuchet MS" panose="020B0603020202020204" pitchFamily="34" charset="0"/>
                <a:ea typeface="+mn-ea"/>
                <a:cs typeface="+mn-cs"/>
              </a:rPr>
              <a:t>Mustaqeem</a:t>
            </a:r>
            <a:endParaRPr lang="en-IN" dirty="0">
              <a:effectLst/>
            </a:endParaRPr>
          </a:p>
        </p:txBody>
      </p:sp>
    </p:spTree>
    <p:extLst>
      <p:ext uri="{BB962C8B-B14F-4D97-AF65-F5344CB8AC3E}">
        <p14:creationId xmlns:p14="http://schemas.microsoft.com/office/powerpoint/2010/main" val="360141558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604D1-2997-2A4E-E667-C91168F3261D}"/>
              </a:ext>
            </a:extLst>
          </p:cNvPr>
          <p:cNvSpPr>
            <a:spLocks noGrp="1"/>
          </p:cNvSpPr>
          <p:nvPr>
            <p:ph type="title"/>
          </p:nvPr>
        </p:nvSpPr>
        <p:spPr/>
        <p:txBody>
          <a:bodyPr/>
          <a:lstStyle/>
          <a:p>
            <a:pPr algn="ctr"/>
            <a:r>
              <a:rPr lang="en-US" dirty="0"/>
              <a:t>6. Methodology</a:t>
            </a:r>
            <a:endParaRPr lang="en-IN" dirty="0"/>
          </a:p>
        </p:txBody>
      </p:sp>
      <p:sp>
        <p:nvSpPr>
          <p:cNvPr id="3" name="Content Placeholder 2">
            <a:extLst>
              <a:ext uri="{FF2B5EF4-FFF2-40B4-BE49-F238E27FC236}">
                <a16:creationId xmlns:a16="http://schemas.microsoft.com/office/drawing/2014/main" id="{1080A272-1E1A-6104-7F41-2C9AC7D5A77A}"/>
              </a:ext>
            </a:extLst>
          </p:cNvPr>
          <p:cNvSpPr>
            <a:spLocks noGrp="1"/>
          </p:cNvSpPr>
          <p:nvPr>
            <p:ph idx="1"/>
          </p:nvPr>
        </p:nvSpPr>
        <p:spPr>
          <a:xfrm>
            <a:off x="677334" y="1930401"/>
            <a:ext cx="8596668" cy="4110962"/>
          </a:xfrm>
        </p:spPr>
        <p:txBody>
          <a:bodyPr>
            <a:noAutofit/>
          </a:bodyPr>
          <a:lstStyle/>
          <a:p>
            <a:pPr algn="just"/>
            <a:r>
              <a:rPr lang="en-US" sz="2000" dirty="0"/>
              <a:t>Extracted and rigorously cleaned the initial clinical dataset, ensuring all patient and demographic variables were properly encoded.</a:t>
            </a:r>
          </a:p>
          <a:p>
            <a:pPr algn="just"/>
            <a:r>
              <a:rPr lang="en-US" sz="2000" dirty="0"/>
              <a:t>Handled training using a strict 5-Fold Stratified Cross-Validation to guarantee that the multi-class models generalized perfectly without overfitting.</a:t>
            </a:r>
          </a:p>
          <a:p>
            <a:pPr algn="just"/>
            <a:r>
              <a:rPr lang="en-US" sz="2000" dirty="0"/>
              <a:t>Trained and thoroughly evaluated five advanced algorithms, meticulously tracking Accuracy, Macro F1, and Weighted F1 statistics for each.</a:t>
            </a:r>
          </a:p>
          <a:p>
            <a:pPr algn="just"/>
            <a:r>
              <a:rPr lang="en-US" sz="2000" dirty="0"/>
              <a:t>Achieved the absolute best performance empirically with </a:t>
            </a:r>
            <a:r>
              <a:rPr lang="en-US" sz="2000" dirty="0" err="1"/>
              <a:t>XGboost</a:t>
            </a:r>
            <a:r>
              <a:rPr lang="en-US" sz="2000" dirty="0"/>
              <a:t>, scoring a </a:t>
            </a:r>
            <a:r>
              <a:rPr lang="en-IN" sz="2000" dirty="0"/>
              <a:t>0.8952</a:t>
            </a:r>
            <a:r>
              <a:rPr lang="en-IN" sz="2000" b="1" dirty="0"/>
              <a:t> </a:t>
            </a:r>
            <a:r>
              <a:rPr lang="en-US" sz="2000" dirty="0"/>
              <a:t>test accuracy.</a:t>
            </a:r>
          </a:p>
          <a:p>
            <a:pPr algn="just"/>
            <a:r>
              <a:rPr lang="en-US" sz="2000" dirty="0"/>
              <a:t>Embedded transparent XAI tools—specifically SHAP and DiCE—directly into the highest-performing algorithms to provide clinicians with clear feature importance and actionable counterfactual scenarios.</a:t>
            </a:r>
            <a:endParaRPr lang="en-IN" sz="2000" dirty="0"/>
          </a:p>
        </p:txBody>
      </p:sp>
      <p:pic>
        <p:nvPicPr>
          <p:cNvPr id="4" name="Picture 3">
            <a:extLst>
              <a:ext uri="{FF2B5EF4-FFF2-40B4-BE49-F238E27FC236}">
                <a16:creationId xmlns:a16="http://schemas.microsoft.com/office/drawing/2014/main" id="{D2C35569-2B0A-90A3-AF28-78BEDDC183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88315"/>
            <a:ext cx="1526020" cy="1776017"/>
          </a:xfrm>
          <a:prstGeom prst="rect">
            <a:avLst/>
          </a:prstGeom>
        </p:spPr>
      </p:pic>
      <p:sp>
        <p:nvSpPr>
          <p:cNvPr id="6" name="TextBox 5">
            <a:extLst>
              <a:ext uri="{FF2B5EF4-FFF2-40B4-BE49-F238E27FC236}">
                <a16:creationId xmlns:a16="http://schemas.microsoft.com/office/drawing/2014/main" id="{5C657591-8D7C-D0FE-E883-A143B6411998}"/>
              </a:ext>
            </a:extLst>
          </p:cNvPr>
          <p:cNvSpPr txBox="1"/>
          <p:nvPr/>
        </p:nvSpPr>
        <p:spPr>
          <a:xfrm>
            <a:off x="11201400" y="6488668"/>
            <a:ext cx="990600" cy="369332"/>
          </a:xfrm>
          <a:prstGeom prst="rect">
            <a:avLst/>
          </a:prstGeom>
          <a:noFill/>
        </p:spPr>
        <p:txBody>
          <a:bodyPr wrap="square">
            <a:spAutoFit/>
          </a:bodyPr>
          <a:lstStyle/>
          <a:p>
            <a:pPr marL="0" algn="l" rtl="0" eaLnBrk="1" latinLnBrk="0" hangingPunct="1">
              <a:buNone/>
            </a:pPr>
            <a:r>
              <a:rPr lang="en-US" sz="1800" kern="1200" dirty="0">
                <a:solidFill>
                  <a:srgbClr val="6D6834"/>
                </a:solidFill>
                <a:effectLst/>
                <a:latin typeface="Trebuchet MS" panose="020B0603020202020204" pitchFamily="34" charset="0"/>
                <a:ea typeface="+mn-ea"/>
                <a:cs typeface="+mn-cs"/>
              </a:rPr>
              <a:t>Mustafa</a:t>
            </a:r>
            <a:endParaRPr lang="en-IN" dirty="0">
              <a:effectLst/>
            </a:endParaRPr>
          </a:p>
        </p:txBody>
      </p:sp>
    </p:spTree>
    <p:extLst>
      <p:ext uri="{BB962C8B-B14F-4D97-AF65-F5344CB8AC3E}">
        <p14:creationId xmlns:p14="http://schemas.microsoft.com/office/powerpoint/2010/main" val="204748954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5548-0DF2-3250-F29C-7182BFFA437F}"/>
              </a:ext>
            </a:extLst>
          </p:cNvPr>
          <p:cNvSpPr>
            <a:spLocks noGrp="1"/>
          </p:cNvSpPr>
          <p:nvPr>
            <p:ph type="title"/>
          </p:nvPr>
        </p:nvSpPr>
        <p:spPr>
          <a:xfrm>
            <a:off x="677334" y="609600"/>
            <a:ext cx="8596668" cy="1152088"/>
          </a:xfrm>
        </p:spPr>
        <p:txBody>
          <a:bodyPr/>
          <a:lstStyle/>
          <a:p>
            <a:pPr algn="ctr"/>
            <a:r>
              <a:rPr lang="en-US" dirty="0"/>
              <a:t>6.1.  System Architecture</a:t>
            </a:r>
            <a:endParaRPr lang="en-IN" dirty="0"/>
          </a:p>
        </p:txBody>
      </p:sp>
      <p:pic>
        <p:nvPicPr>
          <p:cNvPr id="4" name="Picture 3">
            <a:extLst>
              <a:ext uri="{FF2B5EF4-FFF2-40B4-BE49-F238E27FC236}">
                <a16:creationId xmlns:a16="http://schemas.microsoft.com/office/drawing/2014/main" id="{39267F49-6225-3B32-79FC-D6F9D08CCB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88315"/>
            <a:ext cx="1526020" cy="1776017"/>
          </a:xfrm>
          <a:prstGeom prst="rect">
            <a:avLst/>
          </a:prstGeom>
        </p:spPr>
      </p:pic>
      <p:sp>
        <p:nvSpPr>
          <p:cNvPr id="19" name="TextBox 18">
            <a:extLst>
              <a:ext uri="{FF2B5EF4-FFF2-40B4-BE49-F238E27FC236}">
                <a16:creationId xmlns:a16="http://schemas.microsoft.com/office/drawing/2014/main" id="{33E395ED-B572-5AB6-E395-A3C5C9050CA5}"/>
              </a:ext>
            </a:extLst>
          </p:cNvPr>
          <p:cNvSpPr txBox="1"/>
          <p:nvPr/>
        </p:nvSpPr>
        <p:spPr>
          <a:xfrm>
            <a:off x="10956385" y="6488668"/>
            <a:ext cx="1531374" cy="369332"/>
          </a:xfrm>
          <a:prstGeom prst="rect">
            <a:avLst/>
          </a:prstGeom>
          <a:noFill/>
        </p:spPr>
        <p:txBody>
          <a:bodyPr wrap="square">
            <a:spAutoFit/>
          </a:bodyPr>
          <a:lstStyle/>
          <a:p>
            <a:pPr marL="0" algn="l" rtl="0" eaLnBrk="1" latinLnBrk="0" hangingPunct="1">
              <a:buNone/>
            </a:pPr>
            <a:r>
              <a:rPr lang="en-US" sz="1800" kern="1200" dirty="0">
                <a:solidFill>
                  <a:srgbClr val="6D6834"/>
                </a:solidFill>
                <a:effectLst/>
                <a:latin typeface="Trebuchet MS" panose="020B0603020202020204" pitchFamily="34" charset="0"/>
                <a:ea typeface="+mn-ea"/>
                <a:cs typeface="+mn-cs"/>
              </a:rPr>
              <a:t>Mustaqeem</a:t>
            </a:r>
            <a:endParaRPr lang="en-IN" dirty="0">
              <a:effectLst/>
            </a:endParaRPr>
          </a:p>
        </p:txBody>
      </p:sp>
      <p:pic>
        <p:nvPicPr>
          <p:cNvPr id="1026" name="Picture 2">
            <a:extLst>
              <a:ext uri="{FF2B5EF4-FFF2-40B4-BE49-F238E27FC236}">
                <a16:creationId xmlns:a16="http://schemas.microsoft.com/office/drawing/2014/main" id="{8C82734A-35E0-767F-1116-10E18717A0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566738"/>
            <a:ext cx="9753600" cy="57245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23D5202-5348-4876-8226-07671CC2A02D}"/>
              </a:ext>
            </a:extLst>
          </p:cNvPr>
          <p:cNvPicPr>
            <a:picLocks noChangeAspect="1"/>
          </p:cNvPicPr>
          <p:nvPr/>
        </p:nvPicPr>
        <p:blipFill>
          <a:blip r:embed="rId3"/>
          <a:stretch>
            <a:fillRect/>
          </a:stretch>
        </p:blipFill>
        <p:spPr>
          <a:xfrm>
            <a:off x="1219200" y="566737"/>
            <a:ext cx="9753600" cy="5724525"/>
          </a:xfrm>
          <a:prstGeom prst="rect">
            <a:avLst/>
          </a:prstGeom>
        </p:spPr>
      </p:pic>
      <p:pic>
        <p:nvPicPr>
          <p:cNvPr id="9" name="Picture 8">
            <a:extLst>
              <a:ext uri="{FF2B5EF4-FFF2-40B4-BE49-F238E27FC236}">
                <a16:creationId xmlns:a16="http://schemas.microsoft.com/office/drawing/2014/main" id="{A31829D5-D48C-0F2B-9C3C-4980B7CE1451}"/>
              </a:ext>
            </a:extLst>
          </p:cNvPr>
          <p:cNvPicPr>
            <a:picLocks noChangeAspect="1"/>
          </p:cNvPicPr>
          <p:nvPr/>
        </p:nvPicPr>
        <p:blipFill>
          <a:blip r:embed="rId3"/>
          <a:stretch>
            <a:fillRect/>
          </a:stretch>
        </p:blipFill>
        <p:spPr>
          <a:xfrm>
            <a:off x="5250426" y="2932720"/>
            <a:ext cx="5722374" cy="3358542"/>
          </a:xfrm>
          <a:prstGeom prst="rect">
            <a:avLst/>
          </a:prstGeom>
        </p:spPr>
      </p:pic>
      <p:pic>
        <p:nvPicPr>
          <p:cNvPr id="11" name="Picture 10">
            <a:extLst>
              <a:ext uri="{FF2B5EF4-FFF2-40B4-BE49-F238E27FC236}">
                <a16:creationId xmlns:a16="http://schemas.microsoft.com/office/drawing/2014/main" id="{AB340688-68FB-4DCA-FF18-5AE2C0D1FC18}"/>
              </a:ext>
            </a:extLst>
          </p:cNvPr>
          <p:cNvPicPr>
            <a:picLocks noChangeAspect="1"/>
          </p:cNvPicPr>
          <p:nvPr/>
        </p:nvPicPr>
        <p:blipFill>
          <a:blip r:embed="rId3"/>
          <a:stretch>
            <a:fillRect/>
          </a:stretch>
        </p:blipFill>
        <p:spPr>
          <a:xfrm>
            <a:off x="1219200" y="566737"/>
            <a:ext cx="9753600" cy="5724525"/>
          </a:xfrm>
          <a:prstGeom prst="rect">
            <a:avLst/>
          </a:prstGeom>
        </p:spPr>
      </p:pic>
      <p:pic>
        <p:nvPicPr>
          <p:cNvPr id="13" name="Picture 12">
            <a:extLst>
              <a:ext uri="{FF2B5EF4-FFF2-40B4-BE49-F238E27FC236}">
                <a16:creationId xmlns:a16="http://schemas.microsoft.com/office/drawing/2014/main" id="{5A6B09F5-49C1-A235-5A98-B77C69C74809}"/>
              </a:ext>
            </a:extLst>
          </p:cNvPr>
          <p:cNvPicPr>
            <a:picLocks noChangeAspect="1"/>
          </p:cNvPicPr>
          <p:nvPr/>
        </p:nvPicPr>
        <p:blipFill>
          <a:blip r:embed="rId4"/>
          <a:stretch>
            <a:fillRect/>
          </a:stretch>
        </p:blipFill>
        <p:spPr>
          <a:xfrm>
            <a:off x="1219200" y="1348247"/>
            <a:ext cx="8495071" cy="4985877"/>
          </a:xfrm>
          <a:prstGeom prst="rect">
            <a:avLst/>
          </a:prstGeom>
        </p:spPr>
      </p:pic>
    </p:spTree>
    <p:extLst>
      <p:ext uri="{BB962C8B-B14F-4D97-AF65-F5344CB8AC3E}">
        <p14:creationId xmlns:p14="http://schemas.microsoft.com/office/powerpoint/2010/main" val="34233372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14F49-76A5-0946-2E4E-B86ABE6CD16C}"/>
              </a:ext>
            </a:extLst>
          </p:cNvPr>
          <p:cNvSpPr>
            <a:spLocks noGrp="1"/>
          </p:cNvSpPr>
          <p:nvPr>
            <p:ph type="title"/>
          </p:nvPr>
        </p:nvSpPr>
        <p:spPr/>
        <p:txBody>
          <a:bodyPr/>
          <a:lstStyle/>
          <a:p>
            <a:pPr algn="ctr"/>
            <a:r>
              <a:rPr lang="en-US" dirty="0"/>
              <a:t>6.2.  Technology Used </a:t>
            </a:r>
            <a:endParaRPr lang="en-IN" dirty="0"/>
          </a:p>
        </p:txBody>
      </p:sp>
      <p:pic>
        <p:nvPicPr>
          <p:cNvPr id="4" name="Picture 3">
            <a:extLst>
              <a:ext uri="{FF2B5EF4-FFF2-40B4-BE49-F238E27FC236}">
                <a16:creationId xmlns:a16="http://schemas.microsoft.com/office/drawing/2014/main" id="{B0B9147D-C908-B0EB-4660-CB662E49D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88315"/>
            <a:ext cx="1526020" cy="1776017"/>
          </a:xfrm>
          <a:prstGeom prst="rect">
            <a:avLst/>
          </a:prstGeom>
        </p:spPr>
      </p:pic>
      <p:pic>
        <p:nvPicPr>
          <p:cNvPr id="20" name="Content Placeholder 19">
            <a:extLst>
              <a:ext uri="{FF2B5EF4-FFF2-40B4-BE49-F238E27FC236}">
                <a16:creationId xmlns:a16="http://schemas.microsoft.com/office/drawing/2014/main" id="{27997052-BDCA-265F-C8A4-8236B39F0C40}"/>
              </a:ext>
            </a:extLst>
          </p:cNvPr>
          <p:cNvPicPr>
            <a:picLocks noGrp="1" noChangeAspect="1"/>
          </p:cNvPicPr>
          <p:nvPr>
            <p:ph idx="1"/>
          </p:nvPr>
        </p:nvPicPr>
        <p:blipFill>
          <a:blip r:embed="rId3"/>
          <a:stretch>
            <a:fillRect/>
          </a:stretch>
        </p:blipFill>
        <p:spPr>
          <a:xfrm>
            <a:off x="1847955" y="1930400"/>
            <a:ext cx="6440367" cy="4111625"/>
          </a:xfrm>
          <a:prstGeom prst="rect">
            <a:avLst/>
          </a:prstGeom>
        </p:spPr>
      </p:pic>
      <p:sp>
        <p:nvSpPr>
          <p:cNvPr id="5" name="TextBox 4">
            <a:extLst>
              <a:ext uri="{FF2B5EF4-FFF2-40B4-BE49-F238E27FC236}">
                <a16:creationId xmlns:a16="http://schemas.microsoft.com/office/drawing/2014/main" id="{90B7AEC0-5D0C-1BC8-95A6-2A7B92A9962C}"/>
              </a:ext>
            </a:extLst>
          </p:cNvPr>
          <p:cNvSpPr txBox="1"/>
          <p:nvPr/>
        </p:nvSpPr>
        <p:spPr>
          <a:xfrm>
            <a:off x="10959062" y="6488668"/>
            <a:ext cx="1452716" cy="369332"/>
          </a:xfrm>
          <a:prstGeom prst="rect">
            <a:avLst/>
          </a:prstGeom>
          <a:noFill/>
        </p:spPr>
        <p:txBody>
          <a:bodyPr wrap="square">
            <a:spAutoFit/>
          </a:bodyPr>
          <a:lstStyle/>
          <a:p>
            <a:pPr marL="0" algn="l" rtl="0" eaLnBrk="1" latinLnBrk="0" hangingPunct="1">
              <a:buNone/>
            </a:pPr>
            <a:r>
              <a:rPr lang="en-US" sz="1800" kern="1200" dirty="0">
                <a:solidFill>
                  <a:srgbClr val="6D6834"/>
                </a:solidFill>
                <a:effectLst/>
                <a:latin typeface="Trebuchet MS" panose="020B0603020202020204" pitchFamily="34" charset="0"/>
                <a:ea typeface="+mn-ea"/>
                <a:cs typeface="+mn-cs"/>
              </a:rPr>
              <a:t>Mustaqeem</a:t>
            </a:r>
            <a:endParaRPr lang="en-IN" dirty="0">
              <a:effectLst/>
            </a:endParaRPr>
          </a:p>
        </p:txBody>
      </p:sp>
    </p:spTree>
    <p:extLst>
      <p:ext uri="{BB962C8B-B14F-4D97-AF65-F5344CB8AC3E}">
        <p14:creationId xmlns:p14="http://schemas.microsoft.com/office/powerpoint/2010/main" val="368047260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11870-5805-4B78-D976-9785C313D6BA}"/>
              </a:ext>
            </a:extLst>
          </p:cNvPr>
          <p:cNvSpPr>
            <a:spLocks noGrp="1"/>
          </p:cNvSpPr>
          <p:nvPr>
            <p:ph type="title"/>
          </p:nvPr>
        </p:nvSpPr>
        <p:spPr/>
        <p:txBody>
          <a:bodyPr/>
          <a:lstStyle/>
          <a:p>
            <a:pPr algn="ctr"/>
            <a:r>
              <a:rPr lang="en-US" dirty="0"/>
              <a:t>6.3. Datasets</a:t>
            </a:r>
            <a:endParaRPr lang="en-IN" dirty="0"/>
          </a:p>
        </p:txBody>
      </p:sp>
      <p:sp>
        <p:nvSpPr>
          <p:cNvPr id="3" name="Content Placeholder 2">
            <a:extLst>
              <a:ext uri="{FF2B5EF4-FFF2-40B4-BE49-F238E27FC236}">
                <a16:creationId xmlns:a16="http://schemas.microsoft.com/office/drawing/2014/main" id="{FE54EB50-E16F-580A-E989-5EBA32D2BE38}"/>
              </a:ext>
            </a:extLst>
          </p:cNvPr>
          <p:cNvSpPr>
            <a:spLocks noGrp="1"/>
          </p:cNvSpPr>
          <p:nvPr>
            <p:ph idx="1"/>
          </p:nvPr>
        </p:nvSpPr>
        <p:spPr>
          <a:xfrm>
            <a:off x="677334" y="1753299"/>
            <a:ext cx="8596668" cy="4288063"/>
          </a:xfrm>
        </p:spPr>
        <p:txBody>
          <a:bodyPr>
            <a:normAutofit lnSpcReduction="10000"/>
          </a:bodyPr>
          <a:lstStyle/>
          <a:p>
            <a:pPr algn="just"/>
            <a:r>
              <a:rPr lang="en-US" sz="2400" dirty="0"/>
              <a:t>Data Scope: Curated a comprehensive multiple-class clinical dataset encompassing various demographic, historical, and clinical scoring variables for Multiple Sclerosis.</a:t>
            </a:r>
          </a:p>
          <a:p>
            <a:pPr algn="just"/>
            <a:r>
              <a:rPr lang="en-US" sz="2400" dirty="0"/>
              <a:t>Target Categories: Categorized patient records strictly into three distinct medical sub-stages: RRMS, PPMS, and SPMS.</a:t>
            </a:r>
          </a:p>
          <a:p>
            <a:pPr algn="just"/>
            <a:r>
              <a:rPr lang="en-US" sz="2400" dirty="0"/>
              <a:t>Initial Imbalance Identified: Diagnosed severe numerical bias and underrepresentation specifically within the Primary Progressive (PPMS) subtype, which originally held only 100 samples.</a:t>
            </a:r>
          </a:p>
          <a:p>
            <a:pPr marL="0" indent="0" algn="just">
              <a:buNone/>
            </a:pPr>
            <a:endParaRPr lang="en-IN" dirty="0"/>
          </a:p>
        </p:txBody>
      </p:sp>
      <p:pic>
        <p:nvPicPr>
          <p:cNvPr id="4" name="Picture 3">
            <a:extLst>
              <a:ext uri="{FF2B5EF4-FFF2-40B4-BE49-F238E27FC236}">
                <a16:creationId xmlns:a16="http://schemas.microsoft.com/office/drawing/2014/main" id="{C7BC55BB-4F01-03FA-AA0D-D768FAAB20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88315"/>
            <a:ext cx="1526020" cy="1776017"/>
          </a:xfrm>
          <a:prstGeom prst="rect">
            <a:avLst/>
          </a:prstGeom>
        </p:spPr>
      </p:pic>
      <p:sp>
        <p:nvSpPr>
          <p:cNvPr id="6" name="TextBox 5">
            <a:extLst>
              <a:ext uri="{FF2B5EF4-FFF2-40B4-BE49-F238E27FC236}">
                <a16:creationId xmlns:a16="http://schemas.microsoft.com/office/drawing/2014/main" id="{F5D1436A-1B03-17BD-BE80-66DCC5E3A6B2}"/>
              </a:ext>
            </a:extLst>
          </p:cNvPr>
          <p:cNvSpPr txBox="1"/>
          <p:nvPr/>
        </p:nvSpPr>
        <p:spPr>
          <a:xfrm>
            <a:off x="11447206" y="6488668"/>
            <a:ext cx="744794" cy="369332"/>
          </a:xfrm>
          <a:prstGeom prst="rect">
            <a:avLst/>
          </a:prstGeom>
          <a:noFill/>
        </p:spPr>
        <p:txBody>
          <a:bodyPr wrap="square">
            <a:spAutoFit/>
          </a:bodyPr>
          <a:lstStyle/>
          <a:p>
            <a:r>
              <a:rPr lang="en-US" sz="1800" kern="1200" dirty="0">
                <a:solidFill>
                  <a:schemeClr val="accent6">
                    <a:lumMod val="50000"/>
                  </a:schemeClr>
                </a:solidFill>
                <a:effectLst/>
                <a:latin typeface="Trebuchet MS" panose="020B0603020202020204" pitchFamily="34" charset="0"/>
                <a:ea typeface="+mn-ea"/>
                <a:cs typeface="+mn-cs"/>
              </a:rPr>
              <a:t>Atha</a:t>
            </a:r>
            <a:endParaRPr lang="en-IN" dirty="0">
              <a:solidFill>
                <a:schemeClr val="accent6">
                  <a:lumMod val="50000"/>
                </a:schemeClr>
              </a:solidFill>
            </a:endParaRPr>
          </a:p>
        </p:txBody>
      </p:sp>
    </p:spTree>
    <p:extLst>
      <p:ext uri="{BB962C8B-B14F-4D97-AF65-F5344CB8AC3E}">
        <p14:creationId xmlns:p14="http://schemas.microsoft.com/office/powerpoint/2010/main" val="68300563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BECCD-857B-26AA-1F18-AFA8E09F434B}"/>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7. Implementation</a:t>
            </a:r>
            <a:endParaRPr lang="en-IN" dirty="0"/>
          </a:p>
        </p:txBody>
      </p:sp>
      <p:sp>
        <p:nvSpPr>
          <p:cNvPr id="3" name="Content Placeholder 2">
            <a:extLst>
              <a:ext uri="{FF2B5EF4-FFF2-40B4-BE49-F238E27FC236}">
                <a16:creationId xmlns:a16="http://schemas.microsoft.com/office/drawing/2014/main" id="{2C6ECF7B-2062-236E-7BCC-5C7BC165C9ED}"/>
              </a:ext>
            </a:extLst>
          </p:cNvPr>
          <p:cNvSpPr>
            <a:spLocks noGrp="1"/>
          </p:cNvSpPr>
          <p:nvPr>
            <p:ph idx="1"/>
          </p:nvPr>
        </p:nvSpPr>
        <p:spPr>
          <a:xfrm flipH="1">
            <a:off x="12803783" y="6086168"/>
            <a:ext cx="204294" cy="92845"/>
          </a:xfrm>
        </p:spPr>
        <p:txBody>
          <a:bodyPr>
            <a:normAutofit fontScale="25000" lnSpcReduction="20000"/>
          </a:bodyPr>
          <a:lstStyle/>
          <a:p>
            <a:endParaRPr lang="en-IN" dirty="0"/>
          </a:p>
        </p:txBody>
      </p:sp>
      <p:pic>
        <p:nvPicPr>
          <p:cNvPr id="6" name="Picture 5">
            <a:extLst>
              <a:ext uri="{FF2B5EF4-FFF2-40B4-BE49-F238E27FC236}">
                <a16:creationId xmlns:a16="http://schemas.microsoft.com/office/drawing/2014/main" id="{C80523C7-F57E-0594-912E-4DAE0E6A2A8D}"/>
              </a:ext>
            </a:extLst>
          </p:cNvPr>
          <p:cNvPicPr>
            <a:picLocks noChangeAspect="1"/>
          </p:cNvPicPr>
          <p:nvPr/>
        </p:nvPicPr>
        <p:blipFill>
          <a:blip r:embed="rId2"/>
          <a:stretch>
            <a:fillRect/>
          </a:stretch>
        </p:blipFill>
        <p:spPr>
          <a:xfrm>
            <a:off x="1371904" y="1504335"/>
            <a:ext cx="8686496" cy="485222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4" name="TextBox 3">
            <a:extLst>
              <a:ext uri="{FF2B5EF4-FFF2-40B4-BE49-F238E27FC236}">
                <a16:creationId xmlns:a16="http://schemas.microsoft.com/office/drawing/2014/main" id="{817E37EF-F404-713A-273E-8A6D1DCC6500}"/>
              </a:ext>
            </a:extLst>
          </p:cNvPr>
          <p:cNvSpPr txBox="1"/>
          <p:nvPr/>
        </p:nvSpPr>
        <p:spPr>
          <a:xfrm>
            <a:off x="11189110" y="6488668"/>
            <a:ext cx="1533832" cy="369332"/>
          </a:xfrm>
          <a:prstGeom prst="rect">
            <a:avLst/>
          </a:prstGeom>
          <a:noFill/>
        </p:spPr>
        <p:txBody>
          <a:bodyPr wrap="square" rtlCol="0">
            <a:spAutoFit/>
          </a:bodyPr>
          <a:lstStyle/>
          <a:p>
            <a:r>
              <a:rPr lang="en-US" dirty="0">
                <a:solidFill>
                  <a:schemeClr val="accent6">
                    <a:lumMod val="50000"/>
                  </a:schemeClr>
                </a:solidFill>
              </a:rPr>
              <a:t>Mustafa</a:t>
            </a:r>
            <a:endParaRPr lang="en-IN" dirty="0">
              <a:solidFill>
                <a:schemeClr val="accent6">
                  <a:lumMod val="50000"/>
                </a:schemeClr>
              </a:solidFill>
            </a:endParaRPr>
          </a:p>
        </p:txBody>
      </p:sp>
    </p:spTree>
    <p:extLst>
      <p:ext uri="{BB962C8B-B14F-4D97-AF65-F5344CB8AC3E}">
        <p14:creationId xmlns:p14="http://schemas.microsoft.com/office/powerpoint/2010/main" val="22036515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AB66D-2AAF-1D85-FDBC-1F175FF6B67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8.Results </a:t>
            </a:r>
            <a:endParaRPr lang="en-IN" dirty="0"/>
          </a:p>
        </p:txBody>
      </p:sp>
      <p:pic>
        <p:nvPicPr>
          <p:cNvPr id="5" name="Content Placeholder 4">
            <a:extLst>
              <a:ext uri="{FF2B5EF4-FFF2-40B4-BE49-F238E27FC236}">
                <a16:creationId xmlns:a16="http://schemas.microsoft.com/office/drawing/2014/main" id="{62DFE04E-8D8C-9D9E-9FBA-E6ECF45BD21C}"/>
              </a:ext>
            </a:extLst>
          </p:cNvPr>
          <p:cNvPicPr>
            <a:picLocks noGrp="1" noChangeAspect="1"/>
          </p:cNvPicPr>
          <p:nvPr>
            <p:ph idx="1"/>
          </p:nvPr>
        </p:nvPicPr>
        <p:blipFill>
          <a:blip r:embed="rId2"/>
          <a:stretch>
            <a:fillRect/>
          </a:stretch>
        </p:blipFill>
        <p:spPr>
          <a:xfrm>
            <a:off x="2476635" y="1155364"/>
            <a:ext cx="5703801" cy="4827565"/>
          </a:xfrm>
          <a:prstGeom prst="rect">
            <a:avLst/>
          </a:prstGeom>
        </p:spPr>
      </p:pic>
      <p:sp>
        <p:nvSpPr>
          <p:cNvPr id="6" name="TextBox 5">
            <a:extLst>
              <a:ext uri="{FF2B5EF4-FFF2-40B4-BE49-F238E27FC236}">
                <a16:creationId xmlns:a16="http://schemas.microsoft.com/office/drawing/2014/main" id="{562ADF5D-E19D-5A34-F10B-00E3B362EDC6}"/>
              </a:ext>
            </a:extLst>
          </p:cNvPr>
          <p:cNvSpPr txBox="1"/>
          <p:nvPr/>
        </p:nvSpPr>
        <p:spPr>
          <a:xfrm>
            <a:off x="4857135" y="5982929"/>
            <a:ext cx="2330246" cy="523220"/>
          </a:xfrm>
          <a:prstGeom prst="rect">
            <a:avLst/>
          </a:prstGeom>
          <a:noFill/>
        </p:spPr>
        <p:txBody>
          <a:bodyPr wrap="square" rtlCol="0">
            <a:spAutoFit/>
          </a:bodyPr>
          <a:lstStyle/>
          <a:p>
            <a:r>
              <a:rPr lang="en-US" sz="2800" dirty="0"/>
              <a:t>XGBoost</a:t>
            </a:r>
            <a:endParaRPr lang="en-IN" sz="2800" dirty="0"/>
          </a:p>
        </p:txBody>
      </p:sp>
      <p:sp>
        <p:nvSpPr>
          <p:cNvPr id="7" name="TextBox 6">
            <a:extLst>
              <a:ext uri="{FF2B5EF4-FFF2-40B4-BE49-F238E27FC236}">
                <a16:creationId xmlns:a16="http://schemas.microsoft.com/office/drawing/2014/main" id="{08523D8B-57AB-81B0-A778-7F7E2A78B6A1}"/>
              </a:ext>
            </a:extLst>
          </p:cNvPr>
          <p:cNvSpPr txBox="1"/>
          <p:nvPr/>
        </p:nvSpPr>
        <p:spPr>
          <a:xfrm>
            <a:off x="10913805" y="6506149"/>
            <a:ext cx="1858297" cy="369332"/>
          </a:xfrm>
          <a:prstGeom prst="rect">
            <a:avLst/>
          </a:prstGeom>
          <a:noFill/>
        </p:spPr>
        <p:txBody>
          <a:bodyPr wrap="square" rtlCol="0">
            <a:spAutoFit/>
          </a:bodyPr>
          <a:lstStyle/>
          <a:p>
            <a:r>
              <a:rPr lang="en-US" dirty="0">
                <a:solidFill>
                  <a:schemeClr val="accent6">
                    <a:lumMod val="50000"/>
                  </a:schemeClr>
                </a:solidFill>
              </a:rPr>
              <a:t>Mustaqeem</a:t>
            </a:r>
            <a:endParaRPr lang="en-IN" dirty="0">
              <a:solidFill>
                <a:schemeClr val="accent6">
                  <a:lumMod val="50000"/>
                </a:schemeClr>
              </a:solidFill>
            </a:endParaRPr>
          </a:p>
        </p:txBody>
      </p:sp>
    </p:spTree>
    <p:extLst>
      <p:ext uri="{BB962C8B-B14F-4D97-AF65-F5344CB8AC3E}">
        <p14:creationId xmlns:p14="http://schemas.microsoft.com/office/powerpoint/2010/main" val="402875433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9B90AAF-B4F8-7314-8CA8-1EDA3E076484}"/>
              </a:ext>
            </a:extLst>
          </p:cNvPr>
          <p:cNvSpPr>
            <a:spLocks noGrp="1"/>
          </p:cNvSpPr>
          <p:nvPr>
            <p:ph type="body" idx="1"/>
          </p:nvPr>
        </p:nvSpPr>
        <p:spPr>
          <a:xfrm>
            <a:off x="2300749" y="5388077"/>
            <a:ext cx="6292646" cy="491614"/>
          </a:xfrm>
        </p:spPr>
        <p:txBody>
          <a:bodyPr/>
          <a:lstStyle/>
          <a:p>
            <a:r>
              <a:rPr lang="en-US" dirty="0"/>
              <a:t>Counterfactual Explanations using Dice </a:t>
            </a:r>
            <a:endParaRPr lang="en-IN" dirty="0"/>
          </a:p>
        </p:txBody>
      </p:sp>
      <p:pic>
        <p:nvPicPr>
          <p:cNvPr id="8" name="Picture 7">
            <a:extLst>
              <a:ext uri="{FF2B5EF4-FFF2-40B4-BE49-F238E27FC236}">
                <a16:creationId xmlns:a16="http://schemas.microsoft.com/office/drawing/2014/main" id="{0146D1C8-DA89-8735-1E65-A5C5B1442DBE}"/>
              </a:ext>
            </a:extLst>
          </p:cNvPr>
          <p:cNvPicPr>
            <a:picLocks noChangeAspect="1"/>
          </p:cNvPicPr>
          <p:nvPr/>
        </p:nvPicPr>
        <p:blipFill>
          <a:blip r:embed="rId2"/>
          <a:stretch>
            <a:fillRect/>
          </a:stretch>
        </p:blipFill>
        <p:spPr>
          <a:xfrm>
            <a:off x="989781" y="501445"/>
            <a:ext cx="8778567" cy="4713492"/>
          </a:xfrm>
          <a:prstGeom prst="rect">
            <a:avLst/>
          </a:prstGeom>
        </p:spPr>
      </p:pic>
      <p:sp>
        <p:nvSpPr>
          <p:cNvPr id="9" name="TextBox 8">
            <a:extLst>
              <a:ext uri="{FF2B5EF4-FFF2-40B4-BE49-F238E27FC236}">
                <a16:creationId xmlns:a16="http://schemas.microsoft.com/office/drawing/2014/main" id="{B287AC07-0857-7F01-5671-EA8DBD3F71DF}"/>
              </a:ext>
            </a:extLst>
          </p:cNvPr>
          <p:cNvSpPr txBox="1"/>
          <p:nvPr/>
        </p:nvSpPr>
        <p:spPr>
          <a:xfrm>
            <a:off x="11262851" y="6488668"/>
            <a:ext cx="1858297" cy="369332"/>
          </a:xfrm>
          <a:prstGeom prst="rect">
            <a:avLst/>
          </a:prstGeom>
          <a:noFill/>
        </p:spPr>
        <p:txBody>
          <a:bodyPr wrap="square" rtlCol="0">
            <a:spAutoFit/>
          </a:bodyPr>
          <a:lstStyle/>
          <a:p>
            <a:r>
              <a:rPr lang="en-US" dirty="0" err="1">
                <a:solidFill>
                  <a:schemeClr val="accent6">
                    <a:lumMod val="50000"/>
                  </a:schemeClr>
                </a:solidFill>
              </a:rPr>
              <a:t>Msutafa</a:t>
            </a:r>
            <a:endParaRPr lang="en-IN" dirty="0">
              <a:solidFill>
                <a:schemeClr val="accent6">
                  <a:lumMod val="50000"/>
                </a:schemeClr>
              </a:solidFill>
            </a:endParaRPr>
          </a:p>
        </p:txBody>
      </p:sp>
    </p:spTree>
    <p:extLst>
      <p:ext uri="{BB962C8B-B14F-4D97-AF65-F5344CB8AC3E}">
        <p14:creationId xmlns:p14="http://schemas.microsoft.com/office/powerpoint/2010/main" val="255684531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5CD2B6-E6E4-1E65-9AD1-1B1057E2FA13}"/>
              </a:ext>
            </a:extLst>
          </p:cNvPr>
          <p:cNvSpPr>
            <a:spLocks noGrp="1"/>
          </p:cNvSpPr>
          <p:nvPr>
            <p:ph type="body" idx="1"/>
          </p:nvPr>
        </p:nvSpPr>
        <p:spPr>
          <a:xfrm>
            <a:off x="677335" y="5565362"/>
            <a:ext cx="8584652" cy="475999"/>
          </a:xfrm>
        </p:spPr>
        <p:txBody>
          <a:bodyPr/>
          <a:lstStyle/>
          <a:p>
            <a:pPr algn="ctr"/>
            <a:r>
              <a:rPr lang="en-US" dirty="0"/>
              <a:t>SHAP Explanation's</a:t>
            </a:r>
            <a:endParaRPr lang="en-IN" dirty="0"/>
          </a:p>
        </p:txBody>
      </p:sp>
      <p:pic>
        <p:nvPicPr>
          <p:cNvPr id="5" name="Picture 4">
            <a:extLst>
              <a:ext uri="{FF2B5EF4-FFF2-40B4-BE49-F238E27FC236}">
                <a16:creationId xmlns:a16="http://schemas.microsoft.com/office/drawing/2014/main" id="{CE794AEA-E980-2288-3048-3D4AA296A023}"/>
              </a:ext>
            </a:extLst>
          </p:cNvPr>
          <p:cNvPicPr>
            <a:picLocks noChangeAspect="1"/>
          </p:cNvPicPr>
          <p:nvPr/>
        </p:nvPicPr>
        <p:blipFill>
          <a:blip r:embed="rId2"/>
          <a:srcRect t="41269" b="28684"/>
          <a:stretch>
            <a:fillRect/>
          </a:stretch>
        </p:blipFill>
        <p:spPr>
          <a:xfrm>
            <a:off x="677335" y="550606"/>
            <a:ext cx="8677275" cy="1548274"/>
          </a:xfrm>
          <a:prstGeom prst="rect">
            <a:avLst/>
          </a:prstGeom>
        </p:spPr>
      </p:pic>
      <p:pic>
        <p:nvPicPr>
          <p:cNvPr id="8" name="Picture 7">
            <a:extLst>
              <a:ext uri="{FF2B5EF4-FFF2-40B4-BE49-F238E27FC236}">
                <a16:creationId xmlns:a16="http://schemas.microsoft.com/office/drawing/2014/main" id="{B194ED15-A581-A999-40BC-52D111E15FE5}"/>
              </a:ext>
            </a:extLst>
          </p:cNvPr>
          <p:cNvPicPr>
            <a:picLocks noChangeAspect="1"/>
          </p:cNvPicPr>
          <p:nvPr/>
        </p:nvPicPr>
        <p:blipFill>
          <a:blip r:embed="rId3"/>
          <a:stretch>
            <a:fillRect/>
          </a:stretch>
        </p:blipFill>
        <p:spPr>
          <a:xfrm>
            <a:off x="1518623" y="2198584"/>
            <a:ext cx="6677025" cy="3267075"/>
          </a:xfrm>
          <a:prstGeom prst="rect">
            <a:avLst/>
          </a:prstGeom>
        </p:spPr>
      </p:pic>
      <p:sp>
        <p:nvSpPr>
          <p:cNvPr id="9" name="TextBox 8">
            <a:extLst>
              <a:ext uri="{FF2B5EF4-FFF2-40B4-BE49-F238E27FC236}">
                <a16:creationId xmlns:a16="http://schemas.microsoft.com/office/drawing/2014/main" id="{EA4D611E-02FC-88CD-67DB-08F42ECB4EB4}"/>
              </a:ext>
            </a:extLst>
          </p:cNvPr>
          <p:cNvSpPr txBox="1"/>
          <p:nvPr/>
        </p:nvSpPr>
        <p:spPr>
          <a:xfrm>
            <a:off x="11592233" y="6488668"/>
            <a:ext cx="914400" cy="369332"/>
          </a:xfrm>
          <a:prstGeom prst="rect">
            <a:avLst/>
          </a:prstGeom>
          <a:noFill/>
        </p:spPr>
        <p:txBody>
          <a:bodyPr wrap="square" rtlCol="0">
            <a:spAutoFit/>
          </a:bodyPr>
          <a:lstStyle/>
          <a:p>
            <a:r>
              <a:rPr lang="en-US" dirty="0">
                <a:solidFill>
                  <a:schemeClr val="accent6">
                    <a:lumMod val="50000"/>
                  </a:schemeClr>
                </a:solidFill>
              </a:rPr>
              <a:t>Atah</a:t>
            </a:r>
            <a:endParaRPr lang="en-IN" dirty="0">
              <a:solidFill>
                <a:schemeClr val="accent6">
                  <a:lumMod val="50000"/>
                </a:schemeClr>
              </a:solidFill>
            </a:endParaRPr>
          </a:p>
        </p:txBody>
      </p:sp>
    </p:spTree>
    <p:extLst>
      <p:ext uri="{BB962C8B-B14F-4D97-AF65-F5344CB8AC3E}">
        <p14:creationId xmlns:p14="http://schemas.microsoft.com/office/powerpoint/2010/main" val="274475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8F2BD-D5D4-21F8-3689-C5D5CBE51A1F}"/>
              </a:ext>
            </a:extLst>
          </p:cNvPr>
          <p:cNvSpPr>
            <a:spLocks noGrp="1"/>
          </p:cNvSpPr>
          <p:nvPr>
            <p:ph type="title"/>
          </p:nvPr>
        </p:nvSpPr>
        <p:spPr/>
        <p:txBody>
          <a:bodyPr>
            <a:noAutofit/>
          </a:bodyPr>
          <a:lstStyle/>
          <a:p>
            <a:r>
              <a:rPr lang="en-US" dirty="0">
                <a:latin typeface="Times New Roman" panose="02020603050405020304" pitchFamily="18" charset="0"/>
                <a:cs typeface="Times New Roman" panose="02020603050405020304" pitchFamily="18" charset="0"/>
              </a:rPr>
              <a:t>Comparisons of ML techniques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6EB3FEB-7389-55A6-A19A-07025F6E9595}"/>
              </a:ext>
            </a:extLst>
          </p:cNvPr>
          <p:cNvSpPr txBox="1"/>
          <p:nvPr/>
        </p:nvSpPr>
        <p:spPr>
          <a:xfrm>
            <a:off x="10894141" y="6488668"/>
            <a:ext cx="1494503" cy="369332"/>
          </a:xfrm>
          <a:prstGeom prst="rect">
            <a:avLst/>
          </a:prstGeom>
          <a:noFill/>
        </p:spPr>
        <p:txBody>
          <a:bodyPr wrap="square" rtlCol="0">
            <a:spAutoFit/>
          </a:bodyPr>
          <a:lstStyle/>
          <a:p>
            <a:r>
              <a:rPr lang="en-US" dirty="0">
                <a:solidFill>
                  <a:schemeClr val="accent6">
                    <a:lumMod val="50000"/>
                  </a:schemeClr>
                </a:solidFill>
              </a:rPr>
              <a:t>Mustaqeem</a:t>
            </a:r>
            <a:endParaRPr lang="en-IN" dirty="0">
              <a:solidFill>
                <a:schemeClr val="accent6">
                  <a:lumMod val="50000"/>
                </a:schemeClr>
              </a:solidFill>
            </a:endParaRPr>
          </a:p>
        </p:txBody>
      </p:sp>
      <p:pic>
        <p:nvPicPr>
          <p:cNvPr id="8" name="Picture 7">
            <a:extLst>
              <a:ext uri="{FF2B5EF4-FFF2-40B4-BE49-F238E27FC236}">
                <a16:creationId xmlns:a16="http://schemas.microsoft.com/office/drawing/2014/main" id="{A1047552-3275-B481-2511-2972F5A658A3}"/>
              </a:ext>
            </a:extLst>
          </p:cNvPr>
          <p:cNvPicPr>
            <a:picLocks noChangeAspect="1"/>
          </p:cNvPicPr>
          <p:nvPr/>
        </p:nvPicPr>
        <p:blipFill>
          <a:blip r:embed="rId2"/>
          <a:stretch>
            <a:fillRect/>
          </a:stretch>
        </p:blipFill>
        <p:spPr>
          <a:xfrm>
            <a:off x="1484670" y="1446355"/>
            <a:ext cx="8596667" cy="4802045"/>
          </a:xfrm>
          <a:prstGeom prst="rect">
            <a:avLst/>
          </a:prstGeom>
        </p:spPr>
      </p:pic>
    </p:spTree>
    <p:extLst>
      <p:ext uri="{BB962C8B-B14F-4D97-AF65-F5344CB8AC3E}">
        <p14:creationId xmlns:p14="http://schemas.microsoft.com/office/powerpoint/2010/main" val="396399277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5D34-931F-4231-41F6-DF942B3D8F6C}"/>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9. Conclusion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AA1287-1081-403C-C886-7EED2F993DEB}"/>
              </a:ext>
            </a:extLst>
          </p:cNvPr>
          <p:cNvSpPr>
            <a:spLocks noGrp="1"/>
          </p:cNvSpPr>
          <p:nvPr>
            <p:ph idx="1"/>
          </p:nvPr>
        </p:nvSpPr>
        <p:spPr/>
        <p:txBody>
          <a:bodyPr/>
          <a:lstStyle/>
          <a:p>
            <a:r>
              <a:rPr lang="en-US" dirty="0"/>
              <a:t>Our ML framework successfully establishes a highly reliable method for multi-class MS subtype classification.</a:t>
            </a:r>
          </a:p>
          <a:p>
            <a:r>
              <a:rPr lang="en-US" dirty="0"/>
              <a:t>Introducing XAI bridges the critical gap between complex algorithms and practical, everyday clinical trust.</a:t>
            </a:r>
          </a:p>
          <a:p>
            <a:r>
              <a:rPr lang="en-US" dirty="0"/>
              <a:t>This transparent classification system will definitively pave the way for faster, highly personalized neurological care.</a:t>
            </a:r>
          </a:p>
          <a:p>
            <a:endParaRPr lang="en-IN" dirty="0"/>
          </a:p>
        </p:txBody>
      </p:sp>
      <p:pic>
        <p:nvPicPr>
          <p:cNvPr id="4" name="Picture 3">
            <a:extLst>
              <a:ext uri="{FF2B5EF4-FFF2-40B4-BE49-F238E27FC236}">
                <a16:creationId xmlns:a16="http://schemas.microsoft.com/office/drawing/2014/main" id="{346F6ED2-8B06-3EA7-13A2-88CBDFC0E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98147"/>
            <a:ext cx="1526020" cy="1776017"/>
          </a:xfrm>
          <a:prstGeom prst="rect">
            <a:avLst/>
          </a:prstGeom>
        </p:spPr>
      </p:pic>
      <p:sp>
        <p:nvSpPr>
          <p:cNvPr id="6" name="TextBox 5">
            <a:extLst>
              <a:ext uri="{FF2B5EF4-FFF2-40B4-BE49-F238E27FC236}">
                <a16:creationId xmlns:a16="http://schemas.microsoft.com/office/drawing/2014/main" id="{265C0DD5-57AA-A97B-B045-D12B952A329E}"/>
              </a:ext>
            </a:extLst>
          </p:cNvPr>
          <p:cNvSpPr txBox="1"/>
          <p:nvPr/>
        </p:nvSpPr>
        <p:spPr>
          <a:xfrm>
            <a:off x="11202191" y="6488668"/>
            <a:ext cx="1039761" cy="369332"/>
          </a:xfrm>
          <a:prstGeom prst="rect">
            <a:avLst/>
          </a:prstGeom>
          <a:noFill/>
        </p:spPr>
        <p:txBody>
          <a:bodyPr wrap="square">
            <a:spAutoFit/>
          </a:bodyPr>
          <a:lstStyle/>
          <a:p>
            <a:pPr marL="0" algn="l" rtl="0" eaLnBrk="1" latinLnBrk="0" hangingPunct="1">
              <a:buNone/>
            </a:pPr>
            <a:r>
              <a:rPr lang="en-US" sz="1800" kern="1200" dirty="0">
                <a:solidFill>
                  <a:srgbClr val="6D6834"/>
                </a:solidFill>
                <a:effectLst/>
                <a:latin typeface="Trebuchet MS" panose="020B0603020202020204" pitchFamily="34" charset="0"/>
                <a:ea typeface="+mn-ea"/>
                <a:cs typeface="+mn-cs"/>
              </a:rPr>
              <a:t>Mustafa</a:t>
            </a:r>
            <a:endParaRPr lang="en-IN" dirty="0">
              <a:effectLst/>
            </a:endParaRPr>
          </a:p>
        </p:txBody>
      </p:sp>
    </p:spTree>
    <p:extLst>
      <p:ext uri="{BB962C8B-B14F-4D97-AF65-F5344CB8AC3E}">
        <p14:creationId xmlns:p14="http://schemas.microsoft.com/office/powerpoint/2010/main" val="149987363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0374C-9468-D3D2-C361-4AFBD3F11970}"/>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10.References</a:t>
            </a:r>
            <a:endParaRPr lang="en-IN" dirty="0"/>
          </a:p>
        </p:txBody>
      </p:sp>
      <p:sp>
        <p:nvSpPr>
          <p:cNvPr id="3" name="Content Placeholder 2">
            <a:extLst>
              <a:ext uri="{FF2B5EF4-FFF2-40B4-BE49-F238E27FC236}">
                <a16:creationId xmlns:a16="http://schemas.microsoft.com/office/drawing/2014/main" id="{CFB387AC-ED71-09A9-4152-80109D41BD66}"/>
              </a:ext>
            </a:extLst>
          </p:cNvPr>
          <p:cNvSpPr>
            <a:spLocks noGrp="1"/>
          </p:cNvSpPr>
          <p:nvPr>
            <p:ph idx="1"/>
          </p:nvPr>
        </p:nvSpPr>
        <p:spPr>
          <a:xfrm>
            <a:off x="677333" y="1386348"/>
            <a:ext cx="10423286" cy="5471651"/>
          </a:xfrm>
        </p:spPr>
        <p:txBody>
          <a:bodyPr>
            <a:normAutofit/>
          </a:bodyPr>
          <a:lstStyle/>
          <a:p>
            <a:pPr algn="just"/>
            <a:r>
              <a:rPr lang="en-US" dirty="0"/>
              <a:t>Lublin, F.D., et al. (2014). "Defining the clinical course of multiple sclerosis: The 2013 revisions." </a:t>
            </a:r>
            <a:r>
              <a:rPr lang="en-US" i="1" dirty="0"/>
              <a:t>Neurology</a:t>
            </a:r>
            <a:r>
              <a:rPr lang="en-US" dirty="0"/>
              <a:t>, 83(3), 278-286. 🔗 </a:t>
            </a:r>
            <a:r>
              <a:rPr lang="en-US" b="1" dirty="0">
                <a:hlinkClick r:id="rId2"/>
              </a:rPr>
              <a:t>https://doi.org/10.1212/WNL.0000000000000560</a:t>
            </a:r>
            <a:endParaRPr lang="en-US" b="1" dirty="0"/>
          </a:p>
          <a:p>
            <a:pPr algn="just"/>
            <a:r>
              <a:rPr lang="en-US" dirty="0"/>
              <a:t>Thompson, A.J., et al. (2018). "Diagnosis of multiple sclerosis: 2017 revisions of the McDonald criteria." </a:t>
            </a:r>
            <a:r>
              <a:rPr lang="en-US" i="1" dirty="0"/>
              <a:t>The Lancet Neurology</a:t>
            </a:r>
            <a:r>
              <a:rPr lang="en-US" dirty="0"/>
              <a:t>, 17(2), 162-173. </a:t>
            </a:r>
          </a:p>
          <a:p>
            <a:pPr marL="0" indent="0" algn="just">
              <a:buNone/>
            </a:pPr>
            <a:r>
              <a:rPr lang="en-US" dirty="0"/>
              <a:t>		🔗 </a:t>
            </a:r>
            <a:r>
              <a:rPr lang="en-US" b="1" dirty="0">
                <a:hlinkClick r:id="rId3"/>
              </a:rPr>
              <a:t>https://doi.org/10.1016/S1474-4422(17)30470-2</a:t>
            </a:r>
            <a:endParaRPr lang="en-US" b="1" dirty="0"/>
          </a:p>
          <a:p>
            <a:pPr algn="just"/>
            <a:r>
              <a:rPr lang="en-US" dirty="0"/>
              <a:t>Chen, T., &amp; </a:t>
            </a:r>
            <a:r>
              <a:rPr lang="en-US" dirty="0" err="1"/>
              <a:t>Guestrin</a:t>
            </a:r>
            <a:r>
              <a:rPr lang="en-US" dirty="0"/>
              <a:t>, C. (2016). "XGBoost: A Scalable Tree Boosting System." </a:t>
            </a:r>
            <a:r>
              <a:rPr lang="en-US" i="1" dirty="0"/>
              <a:t>Proceedings of the 22nd ACM SIGKDD</a:t>
            </a:r>
            <a:r>
              <a:rPr lang="en-US" dirty="0"/>
              <a:t>, 785-794. 🔗 </a:t>
            </a:r>
            <a:r>
              <a:rPr lang="en-US" b="1" dirty="0">
                <a:hlinkClick r:id="rId4"/>
              </a:rPr>
              <a:t>https://doi.org/10.1145/2939672.2939785</a:t>
            </a:r>
            <a:endParaRPr lang="en-US" b="1" dirty="0"/>
          </a:p>
          <a:p>
            <a:pPr algn="just"/>
            <a:r>
              <a:rPr lang="en-US" dirty="0" err="1"/>
              <a:t>Mothilal</a:t>
            </a:r>
            <a:r>
              <a:rPr lang="en-US" dirty="0"/>
              <a:t>, R.K., Sharma, A., &amp; Tan, C. (2020). "Explaining Machine Learning Classifiers through Diverse Counterfactual Explanations." </a:t>
            </a:r>
            <a:r>
              <a:rPr lang="en-US" i="1" dirty="0"/>
              <a:t>ACM Conference on Fairness, Accountability, and Transparency (FAT*).</a:t>
            </a:r>
            <a:r>
              <a:rPr lang="en-US" dirty="0"/>
              <a:t> 🔗 </a:t>
            </a:r>
            <a:r>
              <a:rPr lang="en-US" b="1" dirty="0">
                <a:hlinkClick r:id="rId5"/>
              </a:rPr>
              <a:t>https://arxiv.org/abs/1905.07697</a:t>
            </a:r>
            <a:endParaRPr lang="en-US" b="1" dirty="0"/>
          </a:p>
          <a:p>
            <a:pPr algn="just"/>
            <a:r>
              <a:rPr lang="en-US" dirty="0"/>
              <a:t>Lundberg, S.M., &amp; Lee, S.I. (2017). "A Unified Approach to Interpreting Model Predictions." </a:t>
            </a:r>
            <a:r>
              <a:rPr lang="en-US" i="1" dirty="0"/>
              <a:t>Advances in Neural Information Processing Systems (</a:t>
            </a:r>
            <a:r>
              <a:rPr lang="en-US" i="1" dirty="0" err="1"/>
              <a:t>NeurIPS</a:t>
            </a:r>
            <a:r>
              <a:rPr lang="en-US" i="1" dirty="0"/>
              <a:t>)</a:t>
            </a:r>
            <a:r>
              <a:rPr lang="en-US" dirty="0"/>
              <a:t>, 30. 🔗 </a:t>
            </a:r>
            <a:r>
              <a:rPr lang="en-US" b="1" dirty="0">
                <a:hlinkClick r:id="rId6"/>
              </a:rPr>
              <a:t>https://arxiv.org/abs/1705.07874</a:t>
            </a:r>
            <a:endParaRPr lang="en-US" b="1" dirty="0"/>
          </a:p>
          <a:p>
            <a:pPr algn="just"/>
            <a:r>
              <a:rPr lang="en-US" dirty="0"/>
              <a:t>Pedregosa, F., et al. (2011). "Scikit-learn: Machine Learning in Python." </a:t>
            </a:r>
            <a:r>
              <a:rPr lang="en-US" i="1" dirty="0"/>
              <a:t>Journal of Machine Learning Research</a:t>
            </a:r>
            <a:r>
              <a:rPr lang="en-US" dirty="0"/>
              <a:t>, 12, 2825-2830. 🔗 </a:t>
            </a:r>
            <a:r>
              <a:rPr lang="en-US" b="1" dirty="0">
                <a:hlinkClick r:id="rId7"/>
              </a:rPr>
              <a:t>https://jmlr.org/papers/v12/pedregosa11a.html</a:t>
            </a:r>
            <a:endParaRPr lang="en-IN" dirty="0"/>
          </a:p>
        </p:txBody>
      </p:sp>
      <p:sp>
        <p:nvSpPr>
          <p:cNvPr id="4" name="TextBox 3">
            <a:extLst>
              <a:ext uri="{FF2B5EF4-FFF2-40B4-BE49-F238E27FC236}">
                <a16:creationId xmlns:a16="http://schemas.microsoft.com/office/drawing/2014/main" id="{74FBDEDA-3F20-5C1F-A663-6767C50BE344}"/>
              </a:ext>
            </a:extLst>
          </p:cNvPr>
          <p:cNvSpPr txBox="1"/>
          <p:nvPr/>
        </p:nvSpPr>
        <p:spPr>
          <a:xfrm>
            <a:off x="11514667" y="6488667"/>
            <a:ext cx="914400" cy="369332"/>
          </a:xfrm>
          <a:prstGeom prst="rect">
            <a:avLst/>
          </a:prstGeom>
          <a:noFill/>
        </p:spPr>
        <p:txBody>
          <a:bodyPr wrap="square" rtlCol="0">
            <a:spAutoFit/>
          </a:bodyPr>
          <a:lstStyle/>
          <a:p>
            <a:r>
              <a:rPr lang="en-US" dirty="0">
                <a:solidFill>
                  <a:schemeClr val="accent6">
                    <a:lumMod val="50000"/>
                  </a:schemeClr>
                </a:solidFill>
              </a:rPr>
              <a:t>Atha</a:t>
            </a:r>
            <a:endParaRPr lang="en-IN" dirty="0">
              <a:solidFill>
                <a:schemeClr val="accent6">
                  <a:lumMod val="50000"/>
                </a:schemeClr>
              </a:solidFill>
            </a:endParaRPr>
          </a:p>
        </p:txBody>
      </p:sp>
    </p:spTree>
    <p:extLst>
      <p:ext uri="{BB962C8B-B14F-4D97-AF65-F5344CB8AC3E}">
        <p14:creationId xmlns:p14="http://schemas.microsoft.com/office/powerpoint/2010/main" val="20732130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06AA1-E6EE-B4E9-8C27-F1C634825CFA}"/>
              </a:ext>
            </a:extLst>
          </p:cNvPr>
          <p:cNvSpPr>
            <a:spLocks noGrp="1"/>
          </p:cNvSpPr>
          <p:nvPr>
            <p:ph type="title"/>
          </p:nvPr>
        </p:nvSpPr>
        <p:spPr>
          <a:xfrm>
            <a:off x="343037" y="2357306"/>
            <a:ext cx="8596668" cy="2097248"/>
          </a:xfrm>
        </p:spPr>
        <p:txBody>
          <a:bodyPr>
            <a:noAutofit/>
          </a:bodyPr>
          <a:lstStyle/>
          <a:p>
            <a:pPr algn="ctr"/>
            <a:r>
              <a:rPr lang="en-US" sz="11200" dirty="0">
                <a:latin typeface="Times New Roman" panose="02020603050405020304" pitchFamily="18" charset="0"/>
                <a:cs typeface="Times New Roman" panose="02020603050405020304" pitchFamily="18" charset="0"/>
              </a:rPr>
              <a:t>Thank You</a:t>
            </a:r>
            <a:endParaRPr lang="en-IN" sz="1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A4FA7FC-86AA-EAFA-8388-F3D1767453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2" y="288315"/>
            <a:ext cx="1526020" cy="1776017"/>
          </a:xfrm>
          <a:prstGeom prst="rect">
            <a:avLst/>
          </a:prstGeom>
        </p:spPr>
      </p:pic>
    </p:spTree>
    <p:extLst>
      <p:ext uri="{BB962C8B-B14F-4D97-AF65-F5344CB8AC3E}">
        <p14:creationId xmlns:p14="http://schemas.microsoft.com/office/powerpoint/2010/main" val="290490640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Facet">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502</TotalTime>
  <Words>1080</Words>
  <Application>Microsoft Office PowerPoint</Application>
  <PresentationFormat>Widescreen</PresentationFormat>
  <Paragraphs>102</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Times New Roman</vt:lpstr>
      <vt:lpstr>Trebuchet MS</vt:lpstr>
      <vt:lpstr>Wingdings 3</vt:lpstr>
      <vt:lpstr>Facet</vt:lpstr>
      <vt:lpstr>PowerPoint Presentation</vt:lpstr>
      <vt:lpstr>Contents</vt:lpstr>
      <vt:lpstr>Abstract</vt:lpstr>
      <vt:lpstr>2. Introduction</vt:lpstr>
      <vt:lpstr>3. Literature Survey</vt:lpstr>
      <vt:lpstr>4. Existing System</vt:lpstr>
      <vt:lpstr>4.1. Limitations of Existing System</vt:lpstr>
      <vt:lpstr>5. Proposed System</vt:lpstr>
      <vt:lpstr>5.1.  Problem Statement</vt:lpstr>
      <vt:lpstr>5.2.  Objectives</vt:lpstr>
      <vt:lpstr>5.3.  Advantages of Proposed System</vt:lpstr>
      <vt:lpstr>6. Methodology</vt:lpstr>
      <vt:lpstr>6.1.  System Architecture</vt:lpstr>
      <vt:lpstr>6.2.  Technology Used </vt:lpstr>
      <vt:lpstr>6.3. Datasets</vt:lpstr>
      <vt:lpstr>7. Implementation</vt:lpstr>
      <vt:lpstr>8.Results </vt:lpstr>
      <vt:lpstr>PowerPoint Presentation</vt:lpstr>
      <vt:lpstr>PowerPoint Presentation</vt:lpstr>
      <vt:lpstr>Comparisons of ML techniques </vt:lpstr>
      <vt:lpstr>9. Conclusion</vt:lpstr>
      <vt:lpstr>10.References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Mustaqeem Uddin</dc:creator>
  <cp:lastModifiedBy>Mohammed Mustaqeem Uddin</cp:lastModifiedBy>
  <cp:revision>22</cp:revision>
  <dcterms:modified xsi:type="dcterms:W3CDTF">2026-04-21T08:23:48Z</dcterms:modified>
</cp:coreProperties>
</file>